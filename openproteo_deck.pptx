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4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75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OpenProteo in 30 seconds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OpenProteo is an internal, general-purpose workflow orchestrator: each workflow is an ordered chain of steps, gates and loops, designed visually and stored as XML — proven at scale on Legal Archive feeds, but not limited to them.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690372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pitch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690372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653796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data through any multi-step pipeline — extract, transform, validate, mask, package, deliver — and lands it wherever it needs to go. Flagship deployment: the 16-step Legal Archive process, 144 feeds and counting.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does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feed is a workflow: an ordered chain of steps that the engine runs top to bottom, with gates that route the flow and loops that repeat blocks per item.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use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workflows visually in the Workflow Designer, or generate hundreds at once from a CSV template via Bulk Create. Edit, validate, test and re-run from the browser.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Java WAR on the existing Tomcat. External configuration. No third-party services. No new infrastructure needed.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600200"/>
            <a:ext cx="437083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52360" y="1600200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1929384"/>
            <a:ext cx="437083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16952" y="1984248"/>
            <a:ext cx="91440" cy="71323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99832" y="19842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99832" y="222199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with live diagram, drag-and-drop, direct XML editing for power users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16952" y="2852928"/>
            <a:ext cx="91440" cy="71323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99832" y="285292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99832" y="30906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global config, masking pools and schemas — all editable in-app, across many feeds at once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16952" y="3721608"/>
            <a:ext cx="91440" cy="71323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99832" y="372160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99832" y="395935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checklists and gates catch bad records before they move; dequote, encoding and replace steps sanitize data in flight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16952" y="4590288"/>
            <a:ext cx="91440" cy="71323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99832" y="45902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99832" y="482803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Production-mode passthrough, atomic file ops, maintenance lock, full run history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16952" y="5458968"/>
            <a:ext cx="91440" cy="71323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99832" y="545896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99832" y="569671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processing, file splitting, parallel runs with an adaptive scheduler, Bulk Create for many feeds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at a glance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gates, loops — and variables that thread state through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is an ordered chain of nodes. Three node kinds cover everything: STEPs do work (via executors), GATEs route or pause the flow, LOOPs repeat a block once per item. Variables carry state across nodes — the engine seeds the essentials and every step can publish more.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2194560"/>
          </a:xfrm>
          <a:prstGeom prst="rect">
            <a:avLst/>
          </a:prstGeom>
          <a:solidFill>
            <a:srgbClr val="F3F3F3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63040" y="2423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2441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63040" y="2624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extract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862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CSV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0" y="2743200"/>
            <a:ext cx="1828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0" y="2377440"/>
            <a:ext cx="1280160" cy="731520"/>
          </a:xfrm>
          <a:prstGeom prst="diamond">
            <a:avLst/>
          </a:prstGeom>
          <a:solidFill>
            <a:srgbClr val="F8DCDF"/>
          </a:solidFill>
          <a:ln w="1524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2441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2624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862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manual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2743200"/>
            <a:ext cx="1828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0" y="2423160"/>
            <a:ext cx="1097280" cy="640080"/>
          </a:xfrm>
          <a:prstGeom prst="hexagon">
            <a:avLst/>
          </a:prstGeom>
          <a:solidFill>
            <a:srgbClr val="E8E8E8"/>
          </a:solidFill>
          <a:ln w="1524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0" y="2441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0" y="2624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2862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 items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2743200"/>
            <a:ext cx="1828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0" y="24231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4A4A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0" y="2441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0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2862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streaming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2743200"/>
            <a:ext cx="1828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40880" y="2423160"/>
            <a:ext cx="1097280" cy="640080"/>
          </a:xfrm>
          <a:prstGeom prst="hexagon">
            <a:avLst/>
          </a:prstGeom>
          <a:solidFill>
            <a:srgbClr val="E8E8E8"/>
          </a:solidFill>
          <a:ln w="1524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0" y="2441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ENDLOOP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2624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2862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138160" y="2743200"/>
            <a:ext cx="1828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21040" y="24231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21040" y="2441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21040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2862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8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FTPS → deliver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863072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863072" y="27889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4069080"/>
            <a:ext cx="2740914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069080"/>
            <a:ext cx="2740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398264"/>
            <a:ext cx="2740914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453128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do work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2920" y="4745736"/>
            <a:ext cx="2466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runs one executor: 14 are built-in (sql, csvsql, xlsx2csv, mask, validate…), or it runs an external PowerShell / batch / shell script.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71266" y="4069080"/>
            <a:ext cx="2740914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71266" y="4069080"/>
            <a:ext cx="2740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71266" y="4398264"/>
            <a:ext cx="2740914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08426" y="4453128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or pauses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08426" y="4745736"/>
            <a:ext cx="2466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 GATE evaluates a condition and jumps onTrue / onFalse. A manual GATE pauses the run and waits for a human decision — state survives the pause.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76772" y="4069080"/>
            <a:ext cx="2740914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176772" y="4069080"/>
            <a:ext cx="2740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6772" y="4398264"/>
            <a:ext cx="2740914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13932" y="4453128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iteration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313932" y="4745736"/>
            <a:ext cx="2466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/ ENDLOOP repeat the enclosed nodes once per item of a list — e.g. every part of a split CSV. 1-based index and padded counter exposed as variables.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082278" y="4069080"/>
            <a:ext cx="2740914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082278" y="4069080"/>
            <a:ext cx="2740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082278" y="4398264"/>
            <a:ext cx="2740914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219438" y="4453128"/>
            <a:ext cx="2466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templating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219438" y="4745736"/>
            <a:ext cx="2466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${name} substitution everywhere. Built-ins seeded automatically (feedId, runId, paths…). Steps publish output variables (##VAR) for downstream nodes.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library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built-in executors — now with SQL joins and native Excel ingestion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don't need custom code for common operations — including data quality and sanitization (validate, dequote, encoding, csvreplace). Two additions close real gaps: csvsql joins/aggregates across CSVs with real SQL, and xlsx2csv streams an Excel sheet straight into the pipeline.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1655064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" y="1911096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" y="2112264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DB2/AS400, stream to CSV — split by rows or size on the fly.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86507" y="1600200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86507" y="1600200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14523" y="1655064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14523" y="1911096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slicer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14523" y="2112264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 existing file into parts by rows or MB — feeds loops.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07254" y="1600200"/>
            <a:ext cx="2174443" cy="1182624"/>
          </a:xfrm>
          <a:prstGeom prst="rect">
            <a:avLst/>
          </a:prstGeom>
          <a:solidFill>
            <a:srgbClr val="F8DCDF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07254" y="1600200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35270" y="1655064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csvsql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33058" y="1673352"/>
            <a:ext cx="475488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33058" y="1673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35270" y="1911096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across CSVs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35270" y="2112264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aggregate, filter several CSVs with real SQL (H2). Auto-detects separators, indexes join columns.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28002" y="1600200"/>
            <a:ext cx="2174443" cy="1182624"/>
          </a:xfrm>
          <a:prstGeom prst="rect">
            <a:avLst/>
          </a:prstGeom>
          <a:solidFill>
            <a:srgbClr val="F8DCDF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28002" y="1600200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56018" y="1655064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xlsx2csv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953805" y="1673352"/>
            <a:ext cx="475488" cy="201168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53805" y="1673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56018" y="1911096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ingestion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56018" y="2112264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one sheet of an .xlsx to CSV — pick columns, rename, format dates. Chains straight into csvsql.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648749" y="1600200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48749" y="1600200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76765" y="1655064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776765" y="1911096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776765" y="2112264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HMAC streaming masking. Constant memory. Pool-based names, cities.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2929128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5760" y="2929128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776" y="2983992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93776" y="3240024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3776" y="3441192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character encoding — convert a file or directory to UTF-8 in one step.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686507" y="2929128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686507" y="2929128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14523" y="2983992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filecopy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2814523" y="3240024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movement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814523" y="3441192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move or list files between locations.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007254" y="2929128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007254" y="2929128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35270" y="2983992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safecopy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135270" y="3240024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delivery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35270" y="3441192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On-fly rename on copy — downstream watchers never see a partial file.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28002" y="2929128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28002" y="2929128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456018" y="2983992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dequote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456018" y="3240024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cleanup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56018" y="3441192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CSV text columns by stripping stray quotes; re-quotes only when needed.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648749" y="2929128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648749" y="2929128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776765" y="2983992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csvreplace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9776765" y="3240024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substitution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776765" y="3441192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 CSV values with string substitution across selected columns.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5760" y="4258056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65760" y="4258056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93776" y="4312920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ifscopy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493776" y="4568952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integration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93776" y="4770120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from an AS400 IFS path to a local destination.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686507" y="4258056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686507" y="4258056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814523" y="4312920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2814523" y="4568952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checks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814523" y="4770120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data-quality checklist over a CSV — record counts, mandatory fields, formats.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007254" y="4258056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007254" y="4258056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135270" y="4312920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5135270" y="4568952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135270" y="4770120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ARX-based statistical anonymisation (in progress).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328002" y="4258056"/>
            <a:ext cx="2174443" cy="1182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328002" y="4258056"/>
            <a:ext cx="64008" cy="1182624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456018" y="4312920"/>
            <a:ext cx="16715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setvar</a:t>
            </a:r>
            <a:endParaRPr lang="en-US" sz="1250" dirty="0"/>
          </a:p>
        </p:txBody>
      </p:sp>
      <p:sp>
        <p:nvSpPr>
          <p:cNvPr id="81" name="Text 79"/>
          <p:cNvSpPr/>
          <p:nvPr/>
        </p:nvSpPr>
        <p:spPr>
          <a:xfrm>
            <a:off x="7456018" y="4568952"/>
            <a:ext cx="1954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bind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456018" y="4770120"/>
            <a:ext cx="1954987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workflow variables — the glue between steps.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65760" y="5669280"/>
            <a:ext cx="11457432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02920" y="5669280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executors  </a:t>
            </a: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anything beyond the standard library runs as a PowerShell, batch or shell script. Scripts publish output variables back to the workflow with a single line of output: </a:t>
            </a:r>
            <a:r>
              <a:rPr lang="en-US" sz="1100" dirty="0">
                <a:solidFill>
                  <a:srgbClr val="F8DC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##VAR name=value</a:t>
            </a: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next steps read them as </a:t>
            </a:r>
            <a:r>
              <a:rPr lang="en-US" sz="1100" dirty="0">
                <a:solidFill>
                  <a:srgbClr val="F8DC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${stepId.name}</a:t>
            </a: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you trust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 step — or any chain of steps — without touching production runs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fear in adopting a new automation platform is "how do I know it will actually work on my data before it's live?" OpenProteo now answers that directly: every step can be tested in isolation, or walked through end to end, on demand, side by side with production traffic.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Test — a single step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53035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immediately, off the queue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in the Designer has a Test button. It runs that one step right away, on a separate executor — it doesn't wait behind other feeds, and doesn't block them either.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last saved workflow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first, then test. The step writes to the feed's normal step folders, exactly like a real run would.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tests to walk the workflow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outputs persist in the step folders, testing steps in order gives a true step-by-step run: step N reads step N-1's output.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construction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only if the same feed has a normal run in progress — testing never collides with any other feed's execution.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▶▶ From here — paced full run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193792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whole workflow, live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any step. The first step runs immediately, then the run pauses — you choose Continue (next step) or Stop.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run, state accumulates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steps you walk through share ONE run: output variables and files accumulate exactly like a normal execution would.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anywhere useful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step 1 to build inputs as you go, or from a later step if its inputs already exist on disk — no need to replay steps you already trust.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saved workflow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and loops are not evaluated in this mode — it's a controlled, linear walkthrough for verification, not a production run.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at scale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more feeds at once, see everything from one screen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portfolio grew to 144 feeds, two things became necessary: running several feeds truly in parallel, and a single place to see what's happening across all of them. Both shipped — without adding a new monitoring tool or a new scheduler to maintain.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runs — adaptive scheduler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5303520" cy="3383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feeds run at the same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orchestrator.max-parallel-runs above 1 and independent feeds execute concurrently instead of queueing one after another.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feed never races itself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feed is always serialised — concurrency is safe by construction, not by convention.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Memory-aware admission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run only starts while enough JVM heap headroom remains; a background scheduler retries deferred runs every ~20 seconds — throughput without risking an out-of-memory crash.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board — one screen, everything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193792" cy="3383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panel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heap used/available, processors, load average, running/queued/waiting counts — refreshed every 5 seconds.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By-source rollup, clickable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application's feeds grouped by outcome; click any tile to drill down to the matching feeds, each showing its last run and last success.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 in progress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queued, running or waiting run with its current step, progress, target and a one-click Stop — auto-refreshed.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5669280"/>
            <a:ext cx="11457432" cy="868680"/>
          </a:xfrm>
          <a:prstGeom prst="rect">
            <a:avLst/>
          </a:prstGeom>
          <a:solidFill>
            <a:srgbClr val="F3F3F3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5669280"/>
            <a:ext cx="91440" cy="868680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56692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new 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CSV viewer with FROM/TO range filters and sortable columns; friendly column names pulled from the displayschema; JSON/XML files pretty-printed the moment you open them; any workflow variable can be surfaced as a searchable column in the home feed list.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deliver at scale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workflow to hundreds, in the same afternoon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Designer covers single-feed design end to end — from drag-and-drop to live diagram with iteration counters. When the scale is hundreds of feeds, Bulk Create generates them from a template plus a CSV: same shape, different attributes.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53035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authoring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steps, gates and loops on a canvas; the engine generates the underlying XML, the designer keeps it in sync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diagram during execution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show an iteration counter (xN), the active body pulses while running, ENDLOOP draws a back-arrow to its LOOP — you watch the run, you don't just stare at logs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XML editing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workflow XML, validate-and-save, the page reloads on the saved feed. Power users clone a workflow by editing a few attributes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validation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runs the runtime parser. If the XML doesn't parse, the save is rejected with an explanation — you never deploy a broken workflow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Docs page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guide lives inside the app — same source of truth as the README — always in sync with the build you're using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Create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193792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CSV → N workflows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one well-designed workflow, supply a CSV of feed attributes, generate hundreds of feeds in one click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substitution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CSV columns into any field with the {Column Name} syntax — ids, names, descriptions, target lists, even inline schemas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Multi-destination targets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target ids in the CSV produce workflows that deliver to several destinations from the same run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only mode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dataschema/displayschema for many existing feeds from a CSV, without touching their workflow — rows for feeds that don't exist are simply skipped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how the 144 feeds got onboarded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application's feed inventory was one Bulk Create run away from being a working set of workflows — not weeks of hand-built XML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bank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governance and audit as first-class concerns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OpenProteo was built inside the bank's constraints: external configuration, no third-party services, no surprises in production. Every irreversible action is gated, every run is logged, every change across many feeds is validated before anything is written.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746504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Production-mode switch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flag on the workflow. When ON, every masking/anonymize step runs as passthrough — you cannot accidentally anonymise production data. A red PROD badge marks these feeds everywhere in the UI, including Operations.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1266" y="1600200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1266" y="1600200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8426" y="1746504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file delivery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8426" y="2240280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safecopy executor writes each file as .on_fly_&lt;name&gt; and renames it to the final name only after the copy completes — downstream watchers never pick up a partial file.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6772" y="1600200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6772" y="1600200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13932" y="1746504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13932" y="2240280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route the flow on a condition or wait for a human decision. Failed checks route the run to an explicit KO branch, not to a silent error.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82278" y="1600200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82278" y="1600200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19438" y="1746504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masking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19438" y="2240280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with an external secret — the same input produces the same masked output across runs, preserving referential integrity.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151376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297680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&amp;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791456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leaves a per-step folder on disk with logs, inputs and outputs — traceable end to end, alongside the new step-level test tools.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71266" y="4151376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71266" y="4151376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8426" y="4297680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configuration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08426" y="4791456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credentials, masking secret, working directories, global variables — all in an external application.properties. Nothing sensitive lives in the repository.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6772" y="4151376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6772" y="4151376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13932" y="4297680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13932" y="4791456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feed can be locked to block manual and scheduled runs during maintenance — step-by-step testing stays available so you can still verify it. A 🔒 badge marks locked feeds everywhere.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82278" y="4151376"/>
            <a:ext cx="2740914" cy="2386584"/>
          </a:xfrm>
          <a:prstGeom prst="rect">
            <a:avLst/>
          </a:prstGeom>
          <a:solidFill>
            <a:srgbClr val="FFFFFF"/>
          </a:solidFill>
          <a:ln w="762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82278" y="4151376"/>
            <a:ext cx="2740914" cy="73152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19438" y="4297680"/>
            <a:ext cx="2503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bulk editing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19438" y="4791456"/>
            <a:ext cx="250317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variable — or even a step's SQL query — across many feeds at once from the Variables page. Every affected workflow is regenerated and validated first; if one fails, nothing is saved.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50292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team should adopt it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on day one, and what changes for the better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team runs any pipeline that looks like extract → validate → transform → deliver — into an archive, another system, or anywhere else — OpenProteo is most likely already a fit. No new infrastructure, no new vendor, no new code to maintain on your side.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stop doing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566928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53035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one-off scripts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built-in executors — including SQL joins across CSVs and native Excel ingestion — plus the external script slot cover most data-pipeline operations, archiving or otherwise. You stop maintaining a private collection of "that script we use for X".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yet another scheduler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Cron, manual run, on-demand from the UI, parallel execution across feeds — already there. You don't add another scheduling solution next to the three you already have.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masking yourself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HMAC masking, pool files, production-safe passthrough — all built in. You don't reinvent it per project.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 production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or any chain of steps — can be tested on demand, without touching a live run. You stop finding out a workflow is broken by watching it fail for real.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on day 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9384"/>
            <a:ext cx="5559552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193792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sample workflow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it in the Designer, point it at your source and target, test it step by step, run it. First successful run in minutes, not days.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Create for your inventory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team has 20 feeds to onboard, you don't build 20 workflows by hand — you bring a CSV and let Bulk Create generate them.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infrastructure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 on the same Tomcat we already operate. No new database, no new service to monitor, no new vendor relationship.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operations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 board gives you resource usage, per-application rollups and every run in progress — without wiring up a separate monitoring tool.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standard across teams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using OpenProteo speaks the same workflow vocabulary. Reviews, audits and hand-offs become trivial.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steps to your first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817352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457432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incremental. Start with a single feed end to end, then expand to your full inventory via Bulk Create. The OpenProteo team is one call away — review the design, validate the production-mode setup, hand over.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727198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727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package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272719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55039" y="2148840"/>
            <a:ext cx="548640" cy="54864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55039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0352" y="2788920"/>
            <a:ext cx="239801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latest OpenProteo WAR from the internal repository and drop it into your existing Tomcat. Configure the external application.properties with your workflow and shared directories.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75838" y="1600200"/>
            <a:ext cx="2727198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75838" y="1600200"/>
            <a:ext cx="2727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75838" y="1929384"/>
            <a:ext cx="272719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65117" y="2148840"/>
            <a:ext cx="548640" cy="54864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65117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40430" y="2788920"/>
            <a:ext cx="239801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a working sample workflow that goes through every node type. Test it step by step in the Designer to validate connectivity, datasource and masking secret before a real run.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5916" y="1600200"/>
            <a:ext cx="2727198" cy="32918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85916" y="1600200"/>
            <a:ext cx="2727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5916" y="1929384"/>
            <a:ext cx="272719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75195" y="2148840"/>
            <a:ext cx="548640" cy="54864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75195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50508" y="2788920"/>
            <a:ext cx="239801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simple feed from your inventory, design it in the Designer (or paste a starting XML), test it step by step on a small data slice, promote it to production.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95994" y="1600200"/>
            <a:ext cx="2727198" cy="329184"/>
          </a:xfrm>
          <a:prstGeom prst="rect">
            <a:avLst/>
          </a:prstGeom>
          <a:solidFill>
            <a:srgbClr val="F8DCDF"/>
          </a:solidFill>
          <a:ln w="12700">
            <a:solidFill>
              <a:srgbClr val="F8D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95994" y="1600200"/>
            <a:ext cx="2727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Bulk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5994" y="1929384"/>
            <a:ext cx="272719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85273" y="2148840"/>
            <a:ext cx="548640" cy="54864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85273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260586" y="2788920"/>
            <a:ext cx="239801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CSV of your full feed inventory, run Bulk Create, validate the generated workflows in the Designer, schedule them via cron — done.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5029200"/>
            <a:ext cx="11457432" cy="1508760"/>
          </a:xfrm>
          <a:prstGeom prst="rect">
            <a:avLst/>
          </a:prstGeom>
          <a:solidFill>
            <a:srgbClr val="F3F3F3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5029200"/>
            <a:ext cx="91440" cy="1508760"/>
          </a:xfrm>
          <a:prstGeom prst="rect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5120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OpenProteo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5486400"/>
            <a:ext cx="111556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projectsrl-git/openproteo on GitHub — source, README, sample workflows, deploy script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In-app: the Docs page (top bar) is the single source of truth for usage, kept in sync with the build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the original implementation team — reach out for an onboarding walkthrough and a working sample tailored to your data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2846</Words>
  <Application>Microsoft Office PowerPoint</Application>
  <PresentationFormat>Widescreen</PresentationFormat>
  <Paragraphs>250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Fabiano Moda</cp:lastModifiedBy>
  <cp:revision>2</cp:revision>
  <dcterms:created xsi:type="dcterms:W3CDTF">2026-07-25T06:00:19Z</dcterms:created>
  <dcterms:modified xsi:type="dcterms:W3CDTF">2026-07-27T05:54:15Z</dcterms:modified>
</cp:coreProperties>
</file>