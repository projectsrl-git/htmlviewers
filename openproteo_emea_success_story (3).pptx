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8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bottleneck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 AI-built automation platform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4114800" cy="36576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015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decommissioning — Legal Archive feed automation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planned, what we delivered as a single Big Bang cutover in two weeks, and what it means beyond Italy.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solidFill>
            <a:srgbClr val="F3F3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/ 144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automated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0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80760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8076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95360" y="5440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to date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we faced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deadline, a manual process, and a portfolio that keeps growing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Italy decommissioning programme must migrate 144 Legal Archive feeds across 5 applications through a 16-step process, against a hard deadline — with most of the effort sitting on manual steps that don't scale with headcount.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53035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ETA: 30 September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ICTO-16351 (SMIT2) and ICTO-16350 (XF) both carry a hard completion date — there is no room to slip on the two largest applications in the portfolio.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feeds across 5 applications — @First PB Italy, First2, HAWK, SMIT2, and XF, the largest at 85 feeds (59% of the total).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feed runs the same 16-step extraction → enrichment → upload → reconciliation process before it can land in the Legal Archive.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doesn't scale as-is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057400"/>
            <a:ext cx="5193792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16 steps are manual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reconciliation activities — not the data movement itself — consume the majority of the effort on every single feed.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compounds with volume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manual checklist has to be repeated 144 times, once per feed, by the same small group of people.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concentrated, not distributed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can do the manual CHECKs are the same people who are needed for functional, business-critical data verification — a single point of contention.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limited resources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deadline, a small team, and dependencies outside our control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headcount was not a fast option against a fixed deadline. The team that could do the work was small, named, and already stretched — and part of the platform we depend on has its own availability constraints.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resourcing reality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53035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named team carried the manual workload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specialists (extraction, reconciliation, packaging) were the only people who could execute or approve every CHECK step, across all 144 feeds.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capacity had to be borrowed, not hired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for a bounded, one-off contribution from other PODs: support from POD Controls &amp; Compliance, one resource from the Germany Tech Team, and a dedicated AI specialist.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spent on manual CHECKs was a day not spent on functional verification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constraint was never data volume — it was the number of expert hours available before 30 September.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 flagged at the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057400"/>
            <a:ext cx="5193792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&amp; dependencies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timelines combined with dependencies on central teams — timely provision of logs/downloads, onboarding of temporary resources — could delay the plan if inputs were not available as scheduled.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availability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availability of the central TransArch platform, due to deployments or maintenance windows, could block critical archiving activity at the worst possible time.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what follows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constraints are exactly why the response had to be a platform built once and reused everywhere — not another manual workaround.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on the time-consuming tasks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manual effort actually sits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 to a fix, we measured the process. More than half of the per-feed effort sits on ten CHECK/reconciliation steps — and one step alone, reconciliation, dwarfs everything else.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69037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Per-feed effort by CHECK step (indicative)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690372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Extraction vs APP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2148840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2148840"/>
            <a:ext cx="3931920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0024" y="2103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34440" y="2487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/ quotes / DB 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63240" y="2532888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2532888"/>
            <a:ext cx="245745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3849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87121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34440" y="2871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 vs reconciled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63240" y="2916936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2916936"/>
            <a:ext cx="491490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9594" y="28712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25526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34440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post-enrichment (BR/EoR)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63240" y="3300984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63240" y="3300984"/>
            <a:ext cx="491490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9594" y="3255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363931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3444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63240" y="3685032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63240" y="3685032"/>
            <a:ext cx="245745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3849" y="36393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0233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3444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validation (descoped)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63240" y="4069080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63240" y="4069080"/>
            <a:ext cx="245745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3849" y="4023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440740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234440" y="4407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mandatory fields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63240" y="4453128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63240" y="4453128"/>
            <a:ext cx="491490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09594" y="4407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479145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234440" y="47914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EoR date vs record date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63240" y="4837176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63240" y="4837176"/>
            <a:ext cx="245745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63849" y="47914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" y="517550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234440" y="5175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Transarch Report (Power BI)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063240" y="5221224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63240" y="5221224"/>
            <a:ext cx="245745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3849" y="51755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2920" y="555955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234440" y="5559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RIM Clearance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063240" y="5605272"/>
            <a:ext cx="3931920" cy="20116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63240" y="5605272"/>
            <a:ext cx="491490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09594" y="55595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52360" y="1600200"/>
            <a:ext cx="437083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52360" y="1600200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452360" y="1929384"/>
            <a:ext cx="437083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35240" y="21031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7635240" y="26060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steps are manual CHECK activities (~62% of steps)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635240" y="329184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7635240" y="379476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per-feed effort sits on those CHECK steps alone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635240" y="448056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800" dirty="0"/>
          </a:p>
        </p:txBody>
      </p:sp>
      <p:sp>
        <p:nvSpPr>
          <p:cNvPr id="70" name="Text 68"/>
          <p:cNvSpPr/>
          <p:nvPr/>
        </p:nvSpPr>
        <p:spPr>
          <a:xfrm>
            <a:off x="7635240" y="498348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XXL — reconciliation is the single largest manual effort, by far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635240" y="566928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×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7635240" y="617220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 scope — the same manual effort, repeated at scale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 steps, revisited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16 steps now run themselves — two remain manual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process we analysed: 16 steps, 10 manual CHECK gates, rework loops on failure. Every step from 3 onward now runs and resolves itself inside OpenProteo. Steps 1 and 2 — the initial extraction and its reconciliation — remain manual today.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2203704" cy="713232"/>
          </a:xfrm>
          <a:prstGeom prst="roundRect">
            <a:avLst>
              <a:gd name="adj" fmla="val 7692"/>
            </a:avLst>
          </a:prstGeom>
          <a:solidFill>
            <a:srgbClr val="F8DCDF"/>
          </a:solidFill>
          <a:ln w="13970">
            <a:solidFill>
              <a:srgbClr val="A81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2336" y="2002536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624328" y="1719072"/>
            <a:ext cx="2313432" cy="859536"/>
          </a:xfrm>
          <a:prstGeom prst="diamond">
            <a:avLst/>
          </a:prstGeom>
          <a:solidFill>
            <a:srgbClr val="F8DCDF"/>
          </a:solidFill>
          <a:ln w="15875">
            <a:solidFill>
              <a:srgbClr val="A81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83794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34056" y="2029968"/>
            <a:ext cx="2093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Reconciliation?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992624" y="1783080"/>
            <a:ext cx="2203704" cy="713232"/>
          </a:xfrm>
          <a:prstGeom prst="roundRect">
            <a:avLst>
              <a:gd name="adj" fmla="val 7692"/>
            </a:avLst>
          </a:prstGeom>
          <a:solidFill>
            <a:srgbClr val="A8123A"/>
          </a:solidFill>
          <a:ln w="13970">
            <a:solidFill>
              <a:srgbClr val="A81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828800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002536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251192" y="1719072"/>
            <a:ext cx="2313432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06056" y="183794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60920" y="2029968"/>
            <a:ext cx="2093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Formatting?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564624" y="1719072"/>
            <a:ext cx="2313432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9488" y="183794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74352" y="2029968"/>
            <a:ext cx="2093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Count?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569464" y="213969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82896" y="213969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96328" y="213969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09760" y="213969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19488" y="2834640"/>
            <a:ext cx="2203704" cy="713232"/>
          </a:xfrm>
          <a:prstGeom prst="roundRect">
            <a:avLst>
              <a:gd name="adj" fmla="val 7692"/>
            </a:avLst>
          </a:prstGeom>
          <a:solidFill>
            <a:srgbClr val="A8123A"/>
          </a:solidFill>
          <a:ln w="13970">
            <a:solidFill>
              <a:srgbClr val="A812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2880360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656064" y="3054096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EoR/BR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306056" y="2834640"/>
            <a:ext cx="2203704" cy="713232"/>
          </a:xfrm>
          <a:prstGeom prst="roundRect">
            <a:avLst>
              <a:gd name="adj" fmla="val 7692"/>
            </a:avLst>
          </a:prstGeom>
          <a:solidFill>
            <a:srgbClr val="A8123A"/>
          </a:solidFill>
          <a:ln w="13970">
            <a:solidFill>
              <a:srgbClr val="A812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06056" y="2880360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42632" y="3054096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Extraction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Split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937760" y="2770632"/>
            <a:ext cx="2313432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288950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47488" y="3081528"/>
            <a:ext cx="2093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Post-Enrichment?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624328" y="2770632"/>
            <a:ext cx="2313432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288950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34056" y="3081528"/>
            <a:ext cx="2093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Format?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10896" y="2770632"/>
            <a:ext cx="2313432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88950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0624" y="3081528"/>
            <a:ext cx="2093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Columns?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9509760" y="319125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>
            <a:off x="7196328" y="319125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45" name="Shape 43"/>
          <p:cNvSpPr/>
          <p:nvPr/>
        </p:nvSpPr>
        <p:spPr>
          <a:xfrm>
            <a:off x="4882896" y="319125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46" name="Shape 44"/>
          <p:cNvSpPr/>
          <p:nvPr/>
        </p:nvSpPr>
        <p:spPr>
          <a:xfrm>
            <a:off x="2569464" y="3191256"/>
            <a:ext cx="109728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47" name="Shape 45"/>
          <p:cNvSpPr/>
          <p:nvPr/>
        </p:nvSpPr>
        <p:spPr>
          <a:xfrm>
            <a:off x="310896" y="3822192"/>
            <a:ext cx="1668127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941064"/>
            <a:ext cx="1558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0624" y="4133088"/>
            <a:ext cx="1448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Fields?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1960735" y="3822192"/>
            <a:ext cx="1668127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5599" y="3941064"/>
            <a:ext cx="1558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70463" y="4133088"/>
            <a:ext cx="1448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EoR Date?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665438" y="3886200"/>
            <a:ext cx="1558399" cy="713232"/>
          </a:xfrm>
          <a:prstGeom prst="roundRect">
            <a:avLst>
              <a:gd name="adj" fmla="val 7692"/>
            </a:avLst>
          </a:prstGeom>
          <a:solidFill>
            <a:srgbClr val="A8123A"/>
          </a:solidFill>
          <a:ln w="13970">
            <a:solidFill>
              <a:srgbClr val="A812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65438" y="3931920"/>
            <a:ext cx="1558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02014" y="4105656"/>
            <a:ext cx="14852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315277" y="3886200"/>
            <a:ext cx="1558399" cy="713232"/>
          </a:xfrm>
          <a:prstGeom prst="roundRect">
            <a:avLst>
              <a:gd name="adj" fmla="val 7692"/>
            </a:avLst>
          </a:prstGeom>
          <a:solidFill>
            <a:srgbClr val="A8123A"/>
          </a:solidFill>
          <a:ln w="13970">
            <a:solidFill>
              <a:srgbClr val="A812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15277" y="3931920"/>
            <a:ext cx="1558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51853" y="4105656"/>
            <a:ext cx="14852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FTPS Transfer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6910251" y="3822192"/>
            <a:ext cx="1668127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65115" y="3941064"/>
            <a:ext cx="1558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19979" y="4133088"/>
            <a:ext cx="1448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Transarch Report?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8560090" y="3822192"/>
            <a:ext cx="1668127" cy="859536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14954" y="3941064"/>
            <a:ext cx="1558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669818" y="4133088"/>
            <a:ext cx="1448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Reconciliation?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10264793" y="3886200"/>
            <a:ext cx="1558399" cy="713232"/>
          </a:xfrm>
          <a:prstGeom prst="roundRect">
            <a:avLst>
              <a:gd name="adj" fmla="val 7692"/>
            </a:avLst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64793" y="3886200"/>
            <a:ext cx="15583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924159" y="4242816"/>
            <a:ext cx="91440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573998" y="4242816"/>
            <a:ext cx="91440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223837" y="4242816"/>
            <a:ext cx="91440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873675" y="4242816"/>
            <a:ext cx="91440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523514" y="4242816"/>
            <a:ext cx="91440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10173353" y="4242816"/>
            <a:ext cx="91440" cy="0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0721340" y="2496312"/>
            <a:ext cx="0" cy="338328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467612" y="3547872"/>
            <a:ext cx="0" cy="338328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1467612" y="1636776"/>
            <a:ext cx="2313432" cy="0"/>
          </a:xfrm>
          <a:prstGeom prst="line">
            <a:avLst/>
          </a:prstGeom>
          <a:noFill/>
          <a:ln w="15875">
            <a:solidFill>
              <a:srgbClr val="A8123A"/>
            </a:solidFill>
            <a:prstDash val="dash"/>
            <a:headEnd type="triangle"/>
          </a:ln>
        </p:spPr>
      </p:sp>
      <p:sp>
        <p:nvSpPr>
          <p:cNvPr id="76" name="Text 74"/>
          <p:cNvSpPr/>
          <p:nvPr/>
        </p:nvSpPr>
        <p:spPr>
          <a:xfrm>
            <a:off x="1376172" y="1417320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— still a manual loop today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444637" y="3739896"/>
            <a:ext cx="4949517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dash"/>
            <a:headEnd type="triangle"/>
          </a:ln>
        </p:spPr>
      </p:sp>
      <p:sp>
        <p:nvSpPr>
          <p:cNvPr id="78" name="Text 76"/>
          <p:cNvSpPr/>
          <p:nvPr/>
        </p:nvSpPr>
        <p:spPr>
          <a:xfrm>
            <a:off x="4353197" y="3520440"/>
            <a:ext cx="5681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(illustrative) — now resolves automatically, in seconds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65760" y="4809744"/>
            <a:ext cx="182880" cy="182880"/>
          </a:xfrm>
          <a:prstGeom prst="diamond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3504" y="47823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— 9 of 10 CHECK gates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429000" y="4809744"/>
            <a:ext cx="182880" cy="182880"/>
          </a:xfrm>
          <a:prstGeom prst="diamond">
            <a:avLst/>
          </a:prstGeom>
          <a:solidFill>
            <a:srgbClr val="F8DCDF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66744" y="47823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steps 1–2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897880" y="4892040"/>
            <a:ext cx="32004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6309360" y="47823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loop — now automatic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144000" y="4892040"/>
            <a:ext cx="320040" cy="0"/>
          </a:xfrm>
          <a:prstGeom prst="line">
            <a:avLst/>
          </a:prstGeom>
          <a:noFill/>
          <a:ln w="12700">
            <a:solidFill>
              <a:srgbClr val="A8123A"/>
            </a:solidFill>
            <a:prstDash val="dash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9555480" y="47823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loop — still manual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65760" y="5166360"/>
            <a:ext cx="11457432" cy="841248"/>
          </a:xfrm>
          <a:prstGeom prst="rect">
            <a:avLst/>
          </a:prstGeom>
          <a:solidFill>
            <a:srgbClr val="F8DCDF"/>
          </a:solidFill>
          <a:ln w="9525">
            <a:solidFill>
              <a:srgbClr val="A8123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760" y="5166360"/>
            <a:ext cx="91440" cy="84124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4360" y="5166360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 steps now run themselves. 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from 3 onward — including 9 of the 10 CHECK gates — evaluates and resolves itself inside the workflow. Steps 1 and 2, the initial extraction and its reconciliation, remain a manual checkpoint today.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was the design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working platform followed naturally from mapping the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the 16 steps precisely didn't just describe the problem — it already described the solution. Repeated activities, decision gates, and per-feed repetition are exactly the building blocks of a workflow orchestrator.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0749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mapped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20824"/>
            <a:ext cx="5074920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47091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ordered activities per feed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enrichment, packaging, delivery — always in the same sequence.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decision points that route the 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either lets the flow continue or sends it back for rework.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sequence, repeated 144 times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feed, by the same small group of people.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0" y="3520440"/>
            <a:ext cx="868680" cy="86868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520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40680" y="4434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48272" y="1691640"/>
            <a:ext cx="5074920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69164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already 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48272" y="2020824"/>
            <a:ext cx="5074920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194560"/>
            <a:ext cx="470916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— an ordered activity that does 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— a decision point that routes or pauses the 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— the same block, repeated once per item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...which is the exact definition of a workflow orchestration engine.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5989320"/>
            <a:ext cx="11457432" cy="685800"/>
          </a:xfrm>
          <a:prstGeom prst="rect">
            <a:avLst/>
          </a:prstGeom>
          <a:solidFill>
            <a:srgbClr val="F3F3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5989320"/>
            <a:ext cx="91440" cy="685800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989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it took two weeks, not months:  </a:t>
            </a:r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weren't invented — they were already fully specified by the process itself.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strategic response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we proposed — before we knew how fast this could go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add people to a manual process, we proposed automating the CHECK/reconciliation cluster — prioritised on XF and SMIT2, the largest and most time-critical applications, with a cautious, staged rollout everywhere else.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we took to leadership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53035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— close as-is, no automation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application (8 feeds); the 1-week closure window made a manual finish the pragmatic choice.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FIRST2 + @First PB Italy — continue current process, activate progressively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freeze on work in flight; automation switched on for later feeds as it matured. Planned impact: ~10% on late feeds.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SMIT2 — first application to benefit from automation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impact: ~15% effort reduction per feed.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 — mature, full-scale benefit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application (85 feeds, 59% of the portfolio). Planned impact: ~20% effort reduction per feed.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057400"/>
            <a:ext cx="5193792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operational freeze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flight continues with the current process; automation is added on top, not blocked by it.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activation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switched on feed by feed, in assist mode first, then as primary engine under human oversight.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analysis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upfront analysis &amp; development effort feeds the automation with rules, data samples and exception logic.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validate exceptions and keep ownership of functional verification — the part only they can do.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coding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itself got built — and why that changed the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platform was not outsourced or bought — it was designed and coded in-house, using AI-assisted engineering as the primary development method. That choice is the reason the build took weeks, not months.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69037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690372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653796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first, code second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was written up as a short specification before a line of code existed — the specs became the shared memory across every build session.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small, validated batches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 was built, tested and confirmed working before the next one started — no big-bang releases of untested code, no backlog of surprises.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AI-assisted, human-directed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coding assistant did the heavy lifting on implementation; the specialist team directed scope, reviewed every change, and owned the architecture and the constraints.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expertise shaped the design, not the queue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specialists from POD Controls &amp; Compliance, the Germany Tech Team, and the dedicated AI specialist spent their time on rules, edge cases and exception logic — not on running manual CHECKs. Their domain experience became part of the design, not extra headcount on the execution queue.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600200"/>
            <a:ext cx="437083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00200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that choice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1929384"/>
            <a:ext cx="437083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10312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35240" y="263347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decision to a working, production-ready automation platform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35240" y="342900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635240" y="395935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operations covering extraction, validation, masking and delivery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35240" y="475488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35240" y="528523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infrastructure or third-party services needed to run it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created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said progressive; we delivered a Big Bang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called for a cautious, staged rollout with modest per-feed gains. What actually happened: OpenProteo — its automation logic, its EoR/BR enrichment handling, and its operations GUI — was ready in two weeks, and every application switched over together.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37033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progressive rollout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3703320" cy="1453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84248"/>
            <a:ext cx="3410712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HAWK: 0% (as-is)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FIRST2 / @First: ~10% on late feeds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SMIT2: ~15% per feed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XF: ~20% per feed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600200"/>
            <a:ext cx="3703320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6002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BIG BANG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1929384"/>
            <a:ext cx="3703320" cy="1453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8264" y="1984248"/>
            <a:ext cx="3410712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HAWK: unchanged, as planned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FIRST2, @First, SMIT2, XF: all switched over together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of 144 feeds (94%) now run on OpenProteo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7033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6002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929384"/>
            <a:ext cx="3703320" cy="1453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1984248"/>
            <a:ext cx="3410712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phased rollout to one single cutover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"reduce manual effort" to "remove nearly all of it"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project cost to a reusable platform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11457432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66160"/>
            <a:ext cx="11457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numbers — OpenProteo Operations, today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95344"/>
            <a:ext cx="11457432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95344"/>
            <a:ext cx="3291840" cy="292608"/>
          </a:xfrm>
          <a:prstGeom prst="rect">
            <a:avLst/>
          </a:prstGeom>
          <a:solidFill>
            <a:srgbClr val="E8E8E8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953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3895344"/>
            <a:ext cx="1691640" cy="292608"/>
          </a:xfrm>
          <a:prstGeom prst="rect">
            <a:avLst/>
          </a:prstGeom>
          <a:solidFill>
            <a:srgbClr val="E8E8E8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895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3895344"/>
            <a:ext cx="1691640" cy="292608"/>
          </a:xfrm>
          <a:prstGeom prst="rect">
            <a:avLst/>
          </a:prstGeom>
          <a:solidFill>
            <a:srgbClr val="E8E8E8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895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3895344"/>
            <a:ext cx="1691640" cy="292608"/>
          </a:xfrm>
          <a:prstGeom prst="rect">
            <a:avLst/>
          </a:prstGeom>
          <a:solidFill>
            <a:srgbClr val="E8E8E8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895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32520" y="3895344"/>
            <a:ext cx="1691640" cy="292608"/>
          </a:xfrm>
          <a:prstGeom prst="rect">
            <a:avLst/>
          </a:prstGeom>
          <a:solidFill>
            <a:srgbClr val="E8E8E8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3895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 yet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424160" y="3895344"/>
            <a:ext cx="1399032" cy="292608"/>
          </a:xfrm>
          <a:prstGeom prst="rect">
            <a:avLst/>
          </a:prstGeom>
          <a:solidFill>
            <a:srgbClr val="E8E8E8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0" y="3895344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187952"/>
            <a:ext cx="32918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187952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 (CS Italy &amp; CSG Milan)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0" y="4187952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41879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49240" y="4187952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41879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40880" y="4187952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41879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732520" y="4187952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32520" y="41879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424160" y="4187952"/>
            <a:ext cx="13990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24160" y="418795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4517136"/>
            <a:ext cx="32918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4517136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0" y="4517136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4517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349240" y="4517136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9240" y="4517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4517136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4517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732520" y="4517136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32520" y="4517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424160" y="4517136"/>
            <a:ext cx="1399032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24160" y="4517136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65760" y="4846320"/>
            <a:ext cx="32918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" y="4846320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@First PB Italy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57600" y="4846320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0" y="4846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349240" y="4846320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49240" y="4846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40880" y="4846320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40880" y="4846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732520" y="4846320"/>
            <a:ext cx="1691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32520" y="4846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0424160" y="4846320"/>
            <a:ext cx="13990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424160" y="4846320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65760" y="5175504"/>
            <a:ext cx="32918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" y="5175504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First2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657600" y="5175504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0" y="5175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349240" y="5175504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49240" y="5175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040880" y="5175504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40880" y="5175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732520" y="5175504"/>
            <a:ext cx="1691640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32520" y="5175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0424160" y="5175504"/>
            <a:ext cx="1399032" cy="329184"/>
          </a:xfrm>
          <a:prstGeom prst="rect">
            <a:avLst/>
          </a:prstGeom>
          <a:solidFill>
            <a:srgbClr val="F3F3F3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424160" y="517550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365760" y="5504688"/>
            <a:ext cx="11457432" cy="347472"/>
          </a:xfrm>
          <a:prstGeom prst="rect">
            <a:avLst/>
          </a:prstGeom>
          <a:solidFill>
            <a:srgbClr val="F8DCD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5488" y="550468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136 feeds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3657600" y="5504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349240" y="5504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040880" y="5504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8732520" y="5504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0424160" y="550468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365760" y="5888736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failed · 0 aborted across the entire portfolio to date. "On hold" and "not run yet" are scheduled/paused, not stuck — the automation is live and working for every feed shown.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8123A"/>
                </a:solidFill>
                <a:latin typeface="Calibri"/>
              </a:rPr>
              <a:t>Proof at scale</a:t>
            </a:r>
            <a:r>
              <a:rPr sz="2200" b="0" i="0">
                <a:solidFill>
                  <a:srgbClr val="5A5A5A"/>
                </a:solidFill>
                <a:latin typeface="Calibri"/>
              </a:rPr>
              <a:t>  |  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100x the volume, a fraction of the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Reliability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Two production snapshots from the same OpenProteo instance: ADVICE running without automation on a small volume, and the automated Legal Archive pipeline at full production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577840" cy="329184"/>
          </a:xfrm>
          <a:prstGeom prst="rect">
            <a:avLst/>
          </a:prstGeom>
          <a:solidFill>
            <a:srgbClr val="F8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5577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A8123A"/>
                </a:solidFill>
                <a:latin typeface="Calibri"/>
              </a:rPr>
              <a:t>BEFORE — ADVICE, manual / non-automated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9384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984248"/>
            <a:ext cx="528523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A8123A"/>
                </a:solidFill>
                <a:latin typeface="Calibri"/>
              </a:rPr>
              <a:t>38% error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496312"/>
            <a:ext cx="5285231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sz="1000" b="1" i="0">
                <a:solidFill>
                  <a:srgbClr val="2D2D2D"/>
                </a:solidFill>
                <a:latin typeface="Calibri"/>
              </a:rPr>
              <a:t>15 files sent, roughly 6 million rows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sz="1000" b="1" i="0">
                <a:solidFill>
                  <a:srgbClr val="2D2D2D"/>
                </a:solidFill>
                <a:latin typeface="Calibri"/>
              </a:rPr>
              <a:t>9 failed ingestions — 9 different root causes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sz="1000" b="1" i="0">
                <a:solidFill>
                  <a:srgbClr val="2D2D2D"/>
                </a:solidFill>
                <a:latin typeface="Calibri"/>
              </a:rPr>
              <a:t>Small batch, disproportionate failure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600200"/>
            <a:ext cx="5577840" cy="329184"/>
          </a:xfrm>
          <a:prstGeom prst="rect">
            <a:avLst/>
          </a:prstGeom>
          <a:solidFill>
            <a:srgbClr val="A8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600200"/>
            <a:ext cx="5577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AFTER — OpenProteo, full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929384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984248"/>
            <a:ext cx="528523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A0E2A"/>
                </a:solidFill>
                <a:latin typeface="Calibri"/>
              </a:rPr>
              <a:t>1% error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496312"/>
            <a:ext cx="5285231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sz="1000" b="1" i="0">
                <a:solidFill>
                  <a:srgbClr val="2D2D2D"/>
                </a:solidFill>
                <a:latin typeface="Calibri"/>
              </a:rPr>
              <a:t>Roughly 300 files sent, 626.7 million rows — over 100x the volume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sz="1000" b="1" i="0">
                <a:solidFill>
                  <a:srgbClr val="2D2D2D"/>
                </a:solidFill>
                <a:latin typeface="Calibri"/>
              </a:rPr>
              <a:t>Roughly 10 billion attributes validated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sz="1000" b="1" i="0">
                <a:solidFill>
                  <a:srgbClr val="2D2D2D"/>
                </a:solidFill>
                <a:latin typeface="Calibri"/>
              </a:rPr>
              <a:t>4 failed ingestions, all the same root cause — one date attribute, one control not yet in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11457432" cy="960120"/>
          </a:xfrm>
          <a:prstGeom prst="rect">
            <a:avLst/>
          </a:prstGeom>
          <a:solidFill>
            <a:srgbClr val="F8DCDF"/>
          </a:solidFill>
          <a:ln w="9525">
            <a:solidFill>
              <a:srgbClr val="A81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91440" cy="960120"/>
          </a:xfrm>
          <a:prstGeom prst="rect">
            <a:avLst/>
          </a:prstGeom>
          <a:solidFill>
            <a:srgbClr val="A8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80"/>
            <a:ext cx="11064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7A0E2A"/>
                </a:solidFill>
                <a:latin typeface="Calibri"/>
              </a:rPr>
              <a:t>100x the volume, a fraction of the failures.  </a:t>
            </a:r>
            <a:r>
              <a:rPr sz="1100" b="0" i="0">
                <a:solidFill>
                  <a:srgbClr val="2D2D2D"/>
                </a:solidFill>
                <a:latin typeface="Calibri"/>
              </a:rPr>
              <a:t>Automation didn’t just scale the process — it made it more reliable at scale: from a 38% failure rate on a small manual batch to a 1% failure rate on two orders of magnitude more data, with every failure traced to the same fixable, previously-uncontrolled cause.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10328"/>
            <a:ext cx="11457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8A8A8A"/>
                </a:solidFill>
                <a:latin typeface="Calibri"/>
              </a:rPr>
              <a:t>Source: OpenProteo Operations — TransArch Feed Volume Overview and Ingestion Activity dashboards, EMEA / WM. Numbers as of 17 August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beyond Italy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and OpenProteo are reusable, not one-off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OpenProteo was designed as a general-purpose workflow orchestrator — extract, validate, sanitize, mask, transform, deliver — proven at scale on Legal Archive feeds, but not limited to them. The investment already made pays again on the next use case.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reusable, concretely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057400"/>
            <a:ext cx="53035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itself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built-in operations (extraction, SQL joins, Excel ingestion, masking, validation, delivery) that cover most archiving and pipeline needs out of the box — no rebuild required.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 GUI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designer to build and test workflows, plus a live operations board — the same interface a new team would use on day one, on any new decommissioning programme.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model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Spec-first, batch-delivered, AI-assisted engineering is now a proven playbook — not a one-time experiment.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 next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193792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CS entities and locations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decommissioning programme with a similar extract → validate → transform → deliver shape — anywhere in EMEA — starts from a working platform, not a blank page.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archiving &amp; pipeline needs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upfront analysis &amp; development cost was paid once; every future use case is a copy-and-tweak away, not a new project from scratch.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model itself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domain specialists in to help design the automation — not to run it manually — is a transferable practice on its own, independent of which platform is used.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delivery</a:t>
            </a:r>
            <a:pPr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worth carrying upward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started as a resourcing problem with a hard deadline. It closed as a reusable capability, delivered faster than planned as a single Big Bang cutover — the applied-AI and delivery outcomes below are measurable and repeatable.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7033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3703320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57400"/>
            <a:ext cx="3374136" cy="2514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platform designed and coded with AI-assisted engineering, human-directed end to end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2 weeks, not months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expertise went into design, not manual execution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703320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6002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929384"/>
            <a:ext cx="3703320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2057400"/>
            <a:ext cx="3374136" cy="2514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of 144 feeds (94%) automated, ahead of the 30 September deadline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as one Big Bang cutover, not a phased rollout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failures, 0 aborted runs across the live portfolio to 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7033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002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929384"/>
            <a:ext cx="3703320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057400"/>
            <a:ext cx="3374136" cy="2514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of the applied-AI delivery model as a template for other programmes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to extend OpenProteo to the next location or decommissioning effort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leadership session to walk through the live Operations board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937760"/>
            <a:ext cx="11457432" cy="32918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37760"/>
            <a:ext cx="11457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summary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5266944"/>
            <a:ext cx="11457432" cy="1088136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340096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resource-constrained, deadline-critical manual process for 144 feeds was turned into a reusable, AI-built automation platform in two weeks — introduced as a single Big Bang cutover, with 94% of the portfolio now running on it and a clean, zero-failure track record.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2026-07-28T08:06:00Z</dcterms:created>
  <dcterms:modified xsi:type="dcterms:W3CDTF">2026-07-28T08:06:00Z</dcterms:modified>
</cp:coreProperties>
</file>