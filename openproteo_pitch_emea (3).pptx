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point is about who gets a say in what we build — and the real signal isn't in the big functional requests, it's in the small ones.</a:t>
            </a:r>
          </a:p>
          <a:p/>
          <a:p>
            <a:r>
              <a:t>Take the Sky Mood we added to the Operations dashboard — [say here exactly what it shows / how it behaves]. Nobody put it in a spec. It doesn't move a single feed, doesn't fix a single error. By any functional measure, it's completely unnecessary.</a:t>
            </a:r>
          </a:p>
          <a:p/>
          <a:p>
            <a:r>
              <a:t>And it's the detail people mention first when they show the dashboard to a colleague.</a:t>
            </a:r>
          </a:p>
          <a:p/>
          <a:p>
            <a:r>
              <a:t>That's the real lesson. The big functional requests earn you compliance — people use the tool because they have to. The small, accessory ones — the ones nobody would ever write into a requirements document — earn you something else: people who actually want to open it. And a tool people want to open is a tool that gets adopted, not just deployed.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want to explain why I picked this image, because it's not decoration — it's literally the argument I hear from skeptics, even when they don't put it in these words.</a:t>
            </a:r>
          </a:p>
          <a:p/>
          <a:p>
            <a:r>
              <a:t>In Zeno's paradox, Achilles gives the tortoise a head start. The claim is that he can never catch up: by the time he reaches where the tortoise was, it has already moved a little further ahead. And then a little further again. Forever. On paper, the gap never fully closes — that's what the three steps on screen show: each hop lands exactly where the tortoise used to be, and each time, it's already gone a bit further.</a:t>
            </a:r>
          </a:p>
          <a:p/>
          <a:p>
            <a:r>
              <a:t>That's the skeptic's logic about automation, almost word for word. It sounds like: "Sure, automation might eventually be faster — but building it takes time, and while you build it, the rest of us keep moving forward step by step, the way we always have. So why stop and invest months in something that, by the time it's ready, we'll have already covered with our own small, safe steps?" Keep taking small steps, and the head start looks after itself.</a:t>
            </a:r>
          </a:p>
          <a:p/>
          <a:p>
            <a:r>
              <a:t>The flaw in Zeno's paradox is mathematical: it treats infinitely many shrinking steps as if they must take infinite time. They don't — they converge to a finite number. Achilles doesn't just eventually close the gap; he closes it on a clock you can actually calculate. That's the same flaw in the skeptic's argument. They assume development time and manual progress move at the same rate. They don't. Once automation is running, it stops taking small steps altogether — it takes all of them at once, continuously, without ever stopping to rest.</a:t>
            </a:r>
          </a:p>
          <a:p/>
          <a:p>
            <a:r>
              <a:t>We didn't argue the philosophy. We ran the experiment. While the "safe" small-steps estimate pointed at the end of October, automation had already crossed the line in the middle of August. We didn't out-walk the tortoise. We changed who was running.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874520"/>
            <a:ext cx="10908792" cy="320040"/>
          </a:xfrm>
          <a:prstGeom prst="rect">
            <a:avLst/>
          </a:prstGeom>
          <a:noFill/>
          <a:ln/>
        </p:spPr>
        <p:txBody>
          <a:bodyPr wrap="square" lIns="0" tIns="0" rIns="0" bIns="0" rtlCol="0" anchor="ctr"/>
          <a:lstStyle/>
          <a:p>
            <a:pPr algn="ctr" indent="0" marL="0">
              <a:buNone/>
            </a:pPr>
            <a:r>
              <a:rPr lang="en-US" sz="1200" b="1" spc="300" kern="0" dirty="0">
                <a:solidFill>
                  <a:srgbClr val="5A5A5A"/>
                </a:solidFill>
                <a:latin typeface="Calibri" pitchFamily="34" charset="0"/>
                <a:ea typeface="Calibri" pitchFamily="34" charset="-122"/>
                <a:cs typeface="Calibri" pitchFamily="34" charset="-120"/>
              </a:rPr>
              <a:t>OPENPROTEO  ·  ITALY LEGAL ARCHIVE AUTOMATION</a:t>
            </a:r>
            <a:endParaRPr lang="en-US" sz="1200" dirty="0"/>
          </a:p>
        </p:txBody>
      </p:sp>
      <p:sp>
        <p:nvSpPr>
          <p:cNvPr id="3" name="Text 1"/>
          <p:cNvSpPr txBox="1"/>
          <p:nvPr/>
        </p:nvSpPr>
        <p:spPr>
          <a:xfrm>
            <a:off x="640080" y="2377440"/>
            <a:ext cx="10908792" cy="868680"/>
          </a:xfrm>
          <a:prstGeom prst="rect">
            <a:avLst/>
          </a:prstGeom>
          <a:noFill/>
          <a:ln/>
        </p:spPr>
        <p:txBody>
          <a:bodyPr wrap="square" lIns="0" tIns="0" rIns="0" bIns="0" rtlCol="0" anchor="ctr"/>
          <a:lstStyle/>
          <a:p>
            <a:pPr algn="ctr" indent="0" marL="0">
              <a:buNone/>
            </a:pPr>
            <a:r>
              <a:rPr lang="en-US" sz="5000" b="1" dirty="0">
                <a:solidFill>
                  <a:srgbClr val="1A1A1A"/>
                </a:solidFill>
                <a:latin typeface="Calibri" pitchFamily="34" charset="0"/>
                <a:ea typeface="Calibri" pitchFamily="34" charset="-122"/>
                <a:cs typeface="Calibri" pitchFamily="34" charset="-120"/>
              </a:rPr>
              <a:t>Impossible by October.</a:t>
            </a:r>
            <a:endParaRPr lang="en-US" sz="5000" dirty="0"/>
          </a:p>
        </p:txBody>
      </p:sp>
      <p:sp>
        <p:nvSpPr>
          <p:cNvPr id="4" name="Text 2"/>
          <p:cNvSpPr txBox="1"/>
          <p:nvPr/>
        </p:nvSpPr>
        <p:spPr>
          <a:xfrm>
            <a:off x="640080" y="3246120"/>
            <a:ext cx="10908792" cy="868680"/>
          </a:xfrm>
          <a:prstGeom prst="rect">
            <a:avLst/>
          </a:prstGeom>
          <a:noFill/>
          <a:ln/>
        </p:spPr>
        <p:txBody>
          <a:bodyPr wrap="square" lIns="0" tIns="0" rIns="0" bIns="0" rtlCol="0" anchor="ctr"/>
          <a:lstStyle/>
          <a:p>
            <a:pPr algn="ctr" indent="0" marL="0">
              <a:buNone/>
            </a:pPr>
            <a:r>
              <a:rPr lang="en-US" sz="5000" b="1" dirty="0">
                <a:solidFill>
                  <a:srgbClr val="A8123A"/>
                </a:solidFill>
                <a:latin typeface="Calibri" pitchFamily="34" charset="0"/>
                <a:ea typeface="Calibri" pitchFamily="34" charset="-122"/>
                <a:cs typeface="Calibri" pitchFamily="34" charset="-120"/>
              </a:rPr>
              <a:t>Done by August.</a:t>
            </a:r>
            <a:endParaRPr lang="en-US" sz="5000" dirty="0"/>
          </a:p>
        </p:txBody>
      </p:sp>
      <p:sp>
        <p:nvSpPr>
          <p:cNvPr id="5" name="Text 3"/>
          <p:cNvSpPr txBox="1"/>
          <p:nvPr/>
        </p:nvSpPr>
        <p:spPr>
          <a:xfrm>
            <a:off x="1554480" y="4251960"/>
            <a:ext cx="9079992" cy="457200"/>
          </a:xfrm>
          <a:prstGeom prst="rect">
            <a:avLst/>
          </a:prstGeom>
          <a:noFill/>
          <a:ln/>
        </p:spPr>
        <p:txBody>
          <a:bodyPr wrap="square" lIns="0" tIns="0" rIns="0" bIns="0" rtlCol="0" anchor="ctr"/>
          <a:lstStyle/>
          <a:p>
            <a:pPr algn="ctr" indent="0" marL="0">
              <a:buNone/>
            </a:pPr>
            <a:r>
              <a:rPr lang="en-US" sz="1700" i="1" dirty="0">
                <a:solidFill>
                  <a:srgbClr val="2D2D2D"/>
                </a:solidFill>
                <a:latin typeface="Calibri" pitchFamily="34" charset="0"/>
                <a:ea typeface="Calibri" pitchFamily="34" charset="-122"/>
                <a:cs typeface="Calibri" pitchFamily="34" charset="-120"/>
              </a:rPr>
              <a:t>Five habits that make AI-first delivery real — not a slogan.</a:t>
            </a:r>
            <a:endParaRPr lang="en-US" sz="1700" dirty="0"/>
          </a:p>
        </p:txBody>
      </p:sp>
      <p:sp>
        <p:nvSpPr>
          <p:cNvPr id="6" name="Text 4"/>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THE STARTING POINT</a:t>
            </a:r>
            <a:endParaRPr lang="en-US" sz="1200" dirty="0"/>
          </a:p>
        </p:txBody>
      </p:sp>
      <p:sp>
        <p:nvSpPr>
          <p:cNvPr id="3" name="Text 1"/>
          <p:cNvSpPr txBox="1"/>
          <p:nvPr/>
        </p:nvSpPr>
        <p:spPr>
          <a:xfrm>
            <a:off x="640080" y="868680"/>
            <a:ext cx="10908792" cy="777240"/>
          </a:xfrm>
          <a:prstGeom prst="rect">
            <a:avLst/>
          </a:prstGeom>
          <a:noFill/>
          <a:ln/>
        </p:spPr>
        <p:txBody>
          <a:bodyPr wrap="square" lIns="0" tIns="0" rIns="0" bIns="0" rtlCol="0" anchor="ctr"/>
          <a:lstStyle/>
          <a:p>
            <a:pPr indent="0" marL="0">
              <a:buNone/>
            </a:pPr>
            <a:r>
              <a:rPr lang="en-US" sz="3600" b="1" dirty="0">
                <a:solidFill>
                  <a:srgbClr val="1A1A1A"/>
                </a:solidFill>
                <a:latin typeface="Calibri" pitchFamily="34" charset="0"/>
                <a:ea typeface="Calibri" pitchFamily="34" charset="-122"/>
                <a:cs typeface="Calibri" pitchFamily="34" charset="-120"/>
              </a:rPr>
              <a:t>Two and a half months, reclaimed.</a:t>
            </a:r>
            <a:endParaRPr lang="en-US" sz="3600" dirty="0"/>
          </a:p>
        </p:txBody>
      </p:sp>
      <p:sp>
        <p:nvSpPr>
          <p:cNvPr id="4" name="Text 2"/>
          <p:cNvSpPr txBox="1"/>
          <p:nvPr/>
        </p:nvSpPr>
        <p:spPr>
          <a:xfrm>
            <a:off x="640080" y="1600200"/>
            <a:ext cx="10908792" cy="365760"/>
          </a:xfrm>
          <a:prstGeom prst="rect">
            <a:avLst/>
          </a:prstGeom>
          <a:noFill/>
          <a:ln/>
        </p:spPr>
        <p:txBody>
          <a:bodyPr wrap="square" lIns="0" tIns="0" rIns="0" bIns="0" rtlCol="0" anchor="ctr"/>
          <a:lstStyle/>
          <a:p>
            <a:pPr indent="0" marL="0">
              <a:buNone/>
            </a:pPr>
            <a:r>
              <a:rPr lang="en-US" sz="1500" dirty="0">
                <a:solidFill>
                  <a:srgbClr val="5A5A5A"/>
                </a:solidFill>
                <a:latin typeface="Calibri" pitchFamily="34" charset="0"/>
                <a:ea typeface="Calibri" pitchFamily="34" charset="-122"/>
                <a:cs typeface="Calibri" pitchFamily="34" charset="-120"/>
              </a:rPr>
              <a:t>The deadline. Our honest estimate. What we actually delivered.</a:t>
            </a:r>
            <a:endParaRPr lang="en-US" sz="1500" dirty="0"/>
          </a:p>
        </p:txBody>
      </p:sp>
      <p:sp>
        <p:nvSpPr>
          <p:cNvPr id="5" name="Shape 3"/>
          <p:cNvSpPr/>
          <p:nvPr/>
        </p:nvSpPr>
        <p:spPr>
          <a:xfrm>
            <a:off x="914400" y="3977640"/>
            <a:ext cx="10360152" cy="18288"/>
          </a:xfrm>
          <a:prstGeom prst="rect">
            <a:avLst/>
          </a:prstGeom>
          <a:solidFill>
            <a:srgbClr val="C9C9C9"/>
          </a:solidFill>
          <a:ln w="12700">
            <a:solidFill>
              <a:srgbClr val="C9C9C9"/>
            </a:solidFill>
            <a:prstDash val="solid"/>
          </a:ln>
        </p:spPr>
      </p:sp>
      <p:sp>
        <p:nvSpPr>
          <p:cNvPr id="6" name="Shape 4"/>
          <p:cNvSpPr/>
          <p:nvPr/>
        </p:nvSpPr>
        <p:spPr>
          <a:xfrm>
            <a:off x="2057034" y="3886200"/>
            <a:ext cx="201168" cy="201168"/>
          </a:xfrm>
          <a:prstGeom prst="ellipse">
            <a:avLst/>
          </a:prstGeom>
          <a:solidFill>
            <a:srgbClr val="A8123A"/>
          </a:solidFill>
          <a:ln w="25400">
            <a:solidFill>
              <a:srgbClr val="FFFFFF"/>
            </a:solidFill>
            <a:prstDash val="solid"/>
          </a:ln>
        </p:spPr>
      </p:sp>
      <p:sp>
        <p:nvSpPr>
          <p:cNvPr id="7" name="Text 5"/>
          <p:cNvSpPr txBox="1"/>
          <p:nvPr/>
        </p:nvSpPr>
        <p:spPr>
          <a:xfrm>
            <a:off x="968898" y="3063240"/>
            <a:ext cx="2377440" cy="411480"/>
          </a:xfrm>
          <a:prstGeom prst="rect">
            <a:avLst/>
          </a:prstGeom>
          <a:noFill/>
          <a:ln/>
        </p:spPr>
        <p:txBody>
          <a:bodyPr wrap="square" lIns="0" tIns="0" rIns="0" bIns="0" rtlCol="0" anchor="ctr"/>
          <a:lstStyle/>
          <a:p>
            <a:pPr algn="ctr" indent="0" marL="0">
              <a:buNone/>
            </a:pPr>
            <a:r>
              <a:rPr lang="en-US" sz="2000" b="1" dirty="0">
                <a:solidFill>
                  <a:srgbClr val="A8123A"/>
                </a:solidFill>
                <a:latin typeface="Calibri" pitchFamily="34" charset="0"/>
                <a:ea typeface="Calibri" pitchFamily="34" charset="-122"/>
                <a:cs typeface="Calibri" pitchFamily="34" charset="-120"/>
              </a:rPr>
              <a:t>Mid-August</a:t>
            </a:r>
            <a:endParaRPr lang="en-US" sz="2000" dirty="0"/>
          </a:p>
        </p:txBody>
      </p:sp>
      <p:sp>
        <p:nvSpPr>
          <p:cNvPr id="8" name="Text 6"/>
          <p:cNvSpPr txBox="1"/>
          <p:nvPr/>
        </p:nvSpPr>
        <p:spPr>
          <a:xfrm>
            <a:off x="968898" y="3474720"/>
            <a:ext cx="2377440" cy="274320"/>
          </a:xfrm>
          <a:prstGeom prst="rect">
            <a:avLst/>
          </a:prstGeom>
          <a:noFill/>
          <a:ln/>
        </p:spPr>
        <p:txBody>
          <a:bodyPr wrap="square" lIns="0" tIns="0" rIns="0" bIns="0" rtlCol="0" anchor="ctr"/>
          <a:lstStyle/>
          <a:p>
            <a:pPr algn="ctr" indent="0" marL="0">
              <a:buNone/>
            </a:pPr>
            <a:r>
              <a:rPr lang="en-US" sz="1100" b="1" dirty="0">
                <a:solidFill>
                  <a:srgbClr val="2D2D2D"/>
                </a:solidFill>
                <a:latin typeface="Calibri" pitchFamily="34" charset="0"/>
                <a:ea typeface="Calibri" pitchFamily="34" charset="-122"/>
                <a:cs typeface="Calibri" pitchFamily="34" charset="-120"/>
              </a:rPr>
              <a:t>Delivered</a:t>
            </a:r>
            <a:endParaRPr lang="en-US" sz="1100" dirty="0"/>
          </a:p>
        </p:txBody>
      </p:sp>
      <p:sp>
        <p:nvSpPr>
          <p:cNvPr id="9" name="Shape 7"/>
          <p:cNvSpPr/>
          <p:nvPr/>
        </p:nvSpPr>
        <p:spPr>
          <a:xfrm>
            <a:off x="3949294" y="3913632"/>
            <a:ext cx="146304" cy="146304"/>
          </a:xfrm>
          <a:prstGeom prst="ellipse">
            <a:avLst/>
          </a:prstGeom>
          <a:solidFill>
            <a:srgbClr val="1A1A1A"/>
          </a:solidFill>
          <a:ln w="25400">
            <a:solidFill>
              <a:srgbClr val="FFFFFF"/>
            </a:solidFill>
            <a:prstDash val="solid"/>
          </a:ln>
        </p:spPr>
      </p:sp>
      <p:sp>
        <p:nvSpPr>
          <p:cNvPr id="10" name="Text 8"/>
          <p:cNvSpPr txBox="1"/>
          <p:nvPr/>
        </p:nvSpPr>
        <p:spPr>
          <a:xfrm>
            <a:off x="2833726" y="4224528"/>
            <a:ext cx="2377440" cy="274320"/>
          </a:xfrm>
          <a:prstGeom prst="rect">
            <a:avLst/>
          </a:prstGeom>
          <a:noFill/>
          <a:ln/>
        </p:spPr>
        <p:txBody>
          <a:bodyPr wrap="square" lIns="0" tIns="0" rIns="0" bIns="0" rtlCol="0" anchor="ctr"/>
          <a:lstStyle/>
          <a:p>
            <a:pPr algn="ctr" indent="0" marL="0">
              <a:buNone/>
            </a:pPr>
            <a:r>
              <a:rPr lang="en-US" sz="1100" b="1" dirty="0">
                <a:solidFill>
                  <a:srgbClr val="5A5A5A"/>
                </a:solidFill>
                <a:latin typeface="Calibri" pitchFamily="34" charset="0"/>
                <a:ea typeface="Calibri" pitchFamily="34" charset="-122"/>
                <a:cs typeface="Calibri" pitchFamily="34" charset="-120"/>
              </a:rPr>
              <a:t>Aug 31</a:t>
            </a:r>
            <a:endParaRPr lang="en-US" sz="1100" dirty="0"/>
          </a:p>
        </p:txBody>
      </p:sp>
      <p:sp>
        <p:nvSpPr>
          <p:cNvPr id="11" name="Text 9"/>
          <p:cNvSpPr txBox="1"/>
          <p:nvPr/>
        </p:nvSpPr>
        <p:spPr>
          <a:xfrm>
            <a:off x="2833726" y="4480560"/>
            <a:ext cx="2377440" cy="365760"/>
          </a:xfrm>
          <a:prstGeom prst="rect">
            <a:avLst/>
          </a:prstGeom>
          <a:noFill/>
          <a:ln/>
        </p:spPr>
        <p:txBody>
          <a:bodyPr wrap="square" lIns="0" tIns="0" rIns="0" bIns="0" rtlCol="0" anchor="ctr"/>
          <a:lstStyle/>
          <a:p>
            <a:pPr algn="ctr" indent="0" marL="0">
              <a:buNone/>
            </a:pPr>
            <a:r>
              <a:rPr lang="en-US" sz="1500" b="1" dirty="0">
                <a:solidFill>
                  <a:srgbClr val="1A1A1A"/>
                </a:solidFill>
                <a:latin typeface="Calibri" pitchFamily="34" charset="0"/>
                <a:ea typeface="Calibri" pitchFamily="34" charset="-122"/>
                <a:cs typeface="Calibri" pitchFamily="34" charset="-120"/>
              </a:rPr>
              <a:t>The deadline</a:t>
            </a:r>
            <a:endParaRPr lang="en-US" sz="1500" dirty="0"/>
          </a:p>
        </p:txBody>
      </p:sp>
      <p:sp>
        <p:nvSpPr>
          <p:cNvPr id="12" name="Shape 10"/>
          <p:cNvSpPr/>
          <p:nvPr/>
        </p:nvSpPr>
        <p:spPr>
          <a:xfrm>
            <a:off x="9750979" y="3913632"/>
            <a:ext cx="146304" cy="146304"/>
          </a:xfrm>
          <a:prstGeom prst="ellipse">
            <a:avLst/>
          </a:prstGeom>
          <a:solidFill>
            <a:srgbClr val="C9C9C9"/>
          </a:solidFill>
          <a:ln w="25400">
            <a:solidFill>
              <a:srgbClr val="FFFFFF"/>
            </a:solidFill>
            <a:prstDash val="solid"/>
          </a:ln>
        </p:spPr>
      </p:sp>
      <p:sp>
        <p:nvSpPr>
          <p:cNvPr id="13" name="Text 11"/>
          <p:cNvSpPr txBox="1"/>
          <p:nvPr/>
        </p:nvSpPr>
        <p:spPr>
          <a:xfrm>
            <a:off x="8269651" y="3063240"/>
            <a:ext cx="3108960" cy="365760"/>
          </a:xfrm>
          <a:prstGeom prst="rect">
            <a:avLst/>
          </a:prstGeom>
          <a:noFill/>
          <a:ln/>
        </p:spPr>
        <p:txBody>
          <a:bodyPr wrap="square" lIns="0" tIns="0" rIns="0" bIns="0" rtlCol="0" anchor="ctr"/>
          <a:lstStyle/>
          <a:p>
            <a:pPr algn="ctr" indent="0" marL="0">
              <a:buNone/>
            </a:pPr>
            <a:r>
              <a:rPr lang="en-US" sz="1500" b="1" dirty="0">
                <a:solidFill>
                  <a:srgbClr val="5A5A5A"/>
                </a:solidFill>
                <a:latin typeface="Calibri" pitchFamily="34" charset="0"/>
                <a:ea typeface="Calibri" pitchFamily="34" charset="-122"/>
                <a:cs typeface="Calibri" pitchFamily="34" charset="-120"/>
              </a:rPr>
              <a:t>Oct 31</a:t>
            </a:r>
            <a:endParaRPr lang="en-US" sz="1500" dirty="0"/>
          </a:p>
        </p:txBody>
      </p:sp>
      <p:sp>
        <p:nvSpPr>
          <p:cNvPr id="14" name="Text 12"/>
          <p:cNvSpPr txBox="1"/>
          <p:nvPr/>
        </p:nvSpPr>
        <p:spPr>
          <a:xfrm>
            <a:off x="8269651" y="3429000"/>
            <a:ext cx="3108960" cy="502920"/>
          </a:xfrm>
          <a:prstGeom prst="rect">
            <a:avLst/>
          </a:prstGeom>
          <a:noFill/>
          <a:ln/>
        </p:spPr>
        <p:txBody>
          <a:bodyPr wrap="square" lIns="0" tIns="0" rIns="0" bIns="0" rtlCol="0" anchor="ctr"/>
          <a:lstStyle/>
          <a:p>
            <a:pPr algn="ctr" indent="0" marL="0">
              <a:buNone/>
            </a:pPr>
            <a:r>
              <a:rPr lang="en-US" sz="1050" dirty="0">
                <a:solidFill>
                  <a:srgbClr val="5A5A5A"/>
                </a:solidFill>
                <a:latin typeface="Calibri" pitchFamily="34" charset="0"/>
                <a:ea typeface="Calibri" pitchFamily="34" charset="-122"/>
                <a:cs typeface="Calibri" pitchFamily="34" charset="-120"/>
              </a:rPr>
              <a:t>Our honest estimate — real risk of missing it entirely</a:t>
            </a:r>
            <a:endParaRPr lang="en-US" sz="1050" dirty="0"/>
          </a:p>
        </p:txBody>
      </p:sp>
      <p:sp>
        <p:nvSpPr>
          <p:cNvPr id="15" name="Text 13"/>
          <p:cNvSpPr txBox="1"/>
          <p:nvPr/>
        </p:nvSpPr>
        <p:spPr>
          <a:xfrm>
            <a:off x="640080" y="5623560"/>
            <a:ext cx="10908792" cy="548640"/>
          </a:xfrm>
          <a:prstGeom prst="rect">
            <a:avLst/>
          </a:prstGeom>
          <a:noFill/>
          <a:ln/>
        </p:spPr>
        <p:txBody>
          <a:bodyPr wrap="square" lIns="0" tIns="0" rIns="0" bIns="0" rtlCol="0" anchor="ctr"/>
          <a:lstStyle/>
          <a:p>
            <a:pPr algn="ctr" indent="0" marL="0">
              <a:buNone/>
            </a:pPr>
            <a:r>
              <a:rPr lang="en-US" sz="2000" b="1" dirty="0">
                <a:solidFill>
                  <a:srgbClr val="1A1A1A"/>
                </a:solidFill>
                <a:latin typeface="Calibri" pitchFamily="34" charset="0"/>
                <a:ea typeface="Calibri" pitchFamily="34" charset="-122"/>
                <a:cs typeface="Calibri" pitchFamily="34" charset="-120"/>
              </a:rPr>
              <a:t>We didn’t just meet the deadline — </a:t>
            </a:r>
            <a:pPr algn="ctr" indent="0" marL="0">
              <a:buNone/>
            </a:pPr>
            <a:r>
              <a:rPr lang="en-US" sz="2000" b="1" dirty="0">
                <a:solidFill>
                  <a:srgbClr val="A8123A"/>
                </a:solidFill>
                <a:latin typeface="Calibri" pitchFamily="34" charset="0"/>
                <a:ea typeface="Calibri" pitchFamily="34" charset="-122"/>
                <a:cs typeface="Calibri" pitchFamily="34" charset="-120"/>
              </a:rPr>
              <a:t>we made the worst case irrelevant.</a:t>
            </a:r>
            <a:endParaRPr lang="en-US" sz="2000" dirty="0"/>
          </a:p>
        </p:txBody>
      </p:sp>
      <p:sp>
        <p:nvSpPr>
          <p:cNvPr id="16" name="Text 14"/>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01 / 05  —  THE PLAYBOOK</a:t>
            </a:r>
            <a:endParaRPr lang="en-US" sz="1200" dirty="0"/>
          </a:p>
        </p:txBody>
      </p:sp>
      <p:sp>
        <p:nvSpPr>
          <p:cNvPr id="3" name="Shape 1"/>
          <p:cNvSpPr/>
          <p:nvPr/>
        </p:nvSpPr>
        <p:spPr>
          <a:xfrm>
            <a:off x="640080" y="1234440"/>
            <a:ext cx="1143000" cy="1143000"/>
          </a:xfrm>
          <a:prstGeom prst="ellipse">
            <a:avLst/>
          </a:prstGeom>
          <a:solidFill>
            <a:srgbClr val="A8123A"/>
          </a:solidFill>
          <a:ln w="12700">
            <a:solidFill>
              <a:srgbClr val="A8123A"/>
            </a:solidFill>
            <a:prstDash val="solid"/>
          </a:ln>
        </p:spPr>
      </p:sp>
      <p:sp>
        <p:nvSpPr>
          <p:cNvPr id="4" name="Text 2"/>
          <p:cNvSpPr txBox="1"/>
          <p:nvPr/>
        </p:nvSpPr>
        <p:spPr>
          <a:xfrm>
            <a:off x="640080" y="1234440"/>
            <a:ext cx="1143000" cy="11430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1</a:t>
            </a:r>
            <a:endParaRPr lang="en-US" sz="3800" dirty="0"/>
          </a:p>
        </p:txBody>
      </p:sp>
      <p:sp>
        <p:nvSpPr>
          <p:cNvPr id="5" name="Text 3"/>
          <p:cNvSpPr txBox="1"/>
          <p:nvPr/>
        </p:nvSpPr>
        <p:spPr>
          <a:xfrm>
            <a:off x="640080" y="2697480"/>
            <a:ext cx="10908792" cy="960120"/>
          </a:xfrm>
          <a:prstGeom prst="rect">
            <a:avLst/>
          </a:prstGeom>
          <a:noFill/>
          <a:ln/>
        </p:spPr>
        <p:txBody>
          <a:bodyPr wrap="square" lIns="0" tIns="0" rIns="0" bIns="0" rtlCol="0" anchor="ctr"/>
          <a:lstStyle/>
          <a:p>
            <a:pPr indent="0" marL="0">
              <a:buNone/>
            </a:pPr>
            <a:r>
              <a:rPr lang="en-US" sz="5000" b="1" dirty="0">
                <a:solidFill>
                  <a:srgbClr val="1A1A1A"/>
                </a:solidFill>
                <a:latin typeface="Calibri" pitchFamily="34" charset="0"/>
                <a:ea typeface="Calibri" pitchFamily="34" charset="-122"/>
                <a:cs typeface="Calibri" pitchFamily="34" charset="-120"/>
              </a:rPr>
              <a:t>MAKE IT </a:t>
            </a:r>
            <a:pPr indent="0" marL="0">
              <a:buNone/>
            </a:pPr>
            <a:r>
              <a:rPr lang="en-US" sz="5000" b="1" dirty="0">
                <a:solidFill>
                  <a:srgbClr val="A8123A"/>
                </a:solidFill>
                <a:latin typeface="Calibri" pitchFamily="34" charset="0"/>
                <a:ea typeface="Calibri" pitchFamily="34" charset="-122"/>
                <a:cs typeface="Calibri" pitchFamily="34" charset="-120"/>
              </a:rPr>
              <a:t>FAST</a:t>
            </a:r>
            <a:endParaRPr lang="en-US" sz="5000" dirty="0"/>
          </a:p>
        </p:txBody>
      </p:sp>
      <p:sp>
        <p:nvSpPr>
          <p:cNvPr id="6" name="Text 4"/>
          <p:cNvSpPr txBox="1"/>
          <p:nvPr/>
        </p:nvSpPr>
        <p:spPr>
          <a:xfrm>
            <a:off x="640080" y="3794760"/>
            <a:ext cx="8869680" cy="1371600"/>
          </a:xfrm>
          <a:prstGeom prst="rect">
            <a:avLst/>
          </a:prstGeom>
          <a:noFill/>
          <a:ln/>
        </p:spPr>
        <p:txBody>
          <a:bodyPr wrap="square" lIns="0" tIns="0" rIns="0" bIns="0" rtlCol="0" anchor="ctr"/>
          <a:lstStyle/>
          <a:p>
            <a:pPr indent="0" marL="0">
              <a:lnSpc>
                <a:spcPct val="125000"/>
              </a:lnSpc>
              <a:buNone/>
            </a:pPr>
            <a:r>
              <a:rPr lang="en-US" sz="2100" dirty="0">
                <a:solidFill>
                  <a:srgbClr val="2D2D2D"/>
                </a:solidFill>
                <a:latin typeface="Calibri" pitchFamily="34" charset="0"/>
                <a:ea typeface="Calibri" pitchFamily="34" charset="-122"/>
                <a:cs typeface="Calibri" pitchFamily="34" charset="-120"/>
              </a:rPr>
              <a:t>AI doesn’t just help you type faster. It collapses the distance between an idea and working software.</a:t>
            </a:r>
            <a:endParaRPr lang="en-US" sz="2100" dirty="0"/>
          </a:p>
        </p:txBody>
      </p:sp>
      <p:sp>
        <p:nvSpPr>
          <p:cNvPr id="7" name="Shape 5"/>
          <p:cNvSpPr/>
          <p:nvPr/>
        </p:nvSpPr>
        <p:spPr>
          <a:xfrm>
            <a:off x="5478628" y="6419088"/>
            <a:ext cx="137160" cy="137160"/>
          </a:xfrm>
          <a:prstGeom prst="ellipse">
            <a:avLst/>
          </a:prstGeom>
          <a:solidFill>
            <a:srgbClr val="A8123A"/>
          </a:solidFill>
          <a:ln w="12700">
            <a:solidFill>
              <a:srgbClr val="A8123A"/>
            </a:solidFill>
            <a:prstDash val="solid"/>
          </a:ln>
        </p:spPr>
      </p:sp>
      <p:sp>
        <p:nvSpPr>
          <p:cNvPr id="8" name="Shape 6"/>
          <p:cNvSpPr/>
          <p:nvPr/>
        </p:nvSpPr>
        <p:spPr>
          <a:xfrm>
            <a:off x="5752948" y="6419088"/>
            <a:ext cx="137160" cy="137160"/>
          </a:xfrm>
          <a:prstGeom prst="ellipse">
            <a:avLst/>
          </a:prstGeom>
          <a:solidFill>
            <a:srgbClr val="C9C9C9"/>
          </a:solidFill>
          <a:ln w="12700">
            <a:solidFill>
              <a:srgbClr val="C9C9C9"/>
            </a:solidFill>
            <a:prstDash val="solid"/>
          </a:ln>
        </p:spPr>
      </p:sp>
      <p:sp>
        <p:nvSpPr>
          <p:cNvPr id="9" name="Shape 7"/>
          <p:cNvSpPr/>
          <p:nvPr/>
        </p:nvSpPr>
        <p:spPr>
          <a:xfrm>
            <a:off x="6027268" y="6419088"/>
            <a:ext cx="137160" cy="137160"/>
          </a:xfrm>
          <a:prstGeom prst="ellipse">
            <a:avLst/>
          </a:prstGeom>
          <a:solidFill>
            <a:srgbClr val="C9C9C9"/>
          </a:solidFill>
          <a:ln w="12700">
            <a:solidFill>
              <a:srgbClr val="C9C9C9"/>
            </a:solidFill>
            <a:prstDash val="solid"/>
          </a:ln>
        </p:spPr>
      </p:sp>
      <p:sp>
        <p:nvSpPr>
          <p:cNvPr id="10" name="Shape 8"/>
          <p:cNvSpPr/>
          <p:nvPr/>
        </p:nvSpPr>
        <p:spPr>
          <a:xfrm>
            <a:off x="6301588" y="6419088"/>
            <a:ext cx="137160" cy="137160"/>
          </a:xfrm>
          <a:prstGeom prst="ellipse">
            <a:avLst/>
          </a:prstGeom>
          <a:solidFill>
            <a:srgbClr val="C9C9C9"/>
          </a:solidFill>
          <a:ln w="12700">
            <a:solidFill>
              <a:srgbClr val="C9C9C9"/>
            </a:solidFill>
            <a:prstDash val="solid"/>
          </a:ln>
        </p:spPr>
      </p:sp>
      <p:sp>
        <p:nvSpPr>
          <p:cNvPr id="11" name="Shape 9"/>
          <p:cNvSpPr/>
          <p:nvPr/>
        </p:nvSpPr>
        <p:spPr>
          <a:xfrm>
            <a:off x="6575908" y="6419088"/>
            <a:ext cx="137160" cy="137160"/>
          </a:xfrm>
          <a:prstGeom prst="ellipse">
            <a:avLst/>
          </a:prstGeom>
          <a:solidFill>
            <a:srgbClr val="C9C9C9"/>
          </a:solidFill>
          <a:ln w="12700">
            <a:solidFill>
              <a:srgbClr val="C9C9C9"/>
            </a:solidFill>
            <a:prstDash val="solid"/>
          </a:ln>
        </p:spPr>
      </p:sp>
      <p:sp>
        <p:nvSpPr>
          <p:cNvPr id="12" name="Text 10"/>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02 / 05  —  THE PLAYBOOK</a:t>
            </a:r>
            <a:endParaRPr lang="en-US" sz="1200" dirty="0"/>
          </a:p>
        </p:txBody>
      </p:sp>
      <p:sp>
        <p:nvSpPr>
          <p:cNvPr id="3" name="Shape 1"/>
          <p:cNvSpPr/>
          <p:nvPr/>
        </p:nvSpPr>
        <p:spPr>
          <a:xfrm>
            <a:off x="640080" y="1234440"/>
            <a:ext cx="1143000" cy="1143000"/>
          </a:xfrm>
          <a:prstGeom prst="ellipse">
            <a:avLst/>
          </a:prstGeom>
          <a:solidFill>
            <a:srgbClr val="A8123A"/>
          </a:solidFill>
          <a:ln w="12700">
            <a:solidFill>
              <a:srgbClr val="A8123A"/>
            </a:solidFill>
            <a:prstDash val="solid"/>
          </a:ln>
        </p:spPr>
      </p:sp>
      <p:sp>
        <p:nvSpPr>
          <p:cNvPr id="4" name="Text 2"/>
          <p:cNvSpPr txBox="1"/>
          <p:nvPr/>
        </p:nvSpPr>
        <p:spPr>
          <a:xfrm>
            <a:off x="640080" y="1234440"/>
            <a:ext cx="1143000" cy="11430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2</a:t>
            </a:r>
            <a:endParaRPr lang="en-US" sz="3800" dirty="0"/>
          </a:p>
        </p:txBody>
      </p:sp>
      <p:sp>
        <p:nvSpPr>
          <p:cNvPr id="5" name="Text 3"/>
          <p:cNvSpPr txBox="1"/>
          <p:nvPr/>
        </p:nvSpPr>
        <p:spPr>
          <a:xfrm>
            <a:off x="640080" y="2697480"/>
            <a:ext cx="10908792" cy="960120"/>
          </a:xfrm>
          <a:prstGeom prst="rect">
            <a:avLst/>
          </a:prstGeom>
          <a:noFill/>
          <a:ln/>
        </p:spPr>
        <p:txBody>
          <a:bodyPr wrap="square" lIns="0" tIns="0" rIns="0" bIns="0" rtlCol="0" anchor="ctr"/>
          <a:lstStyle/>
          <a:p>
            <a:pPr indent="0" marL="0">
              <a:buNone/>
            </a:pPr>
            <a:r>
              <a:rPr lang="en-US" sz="5000" b="1" dirty="0">
                <a:solidFill>
                  <a:srgbClr val="1A1A1A"/>
                </a:solidFill>
                <a:latin typeface="Calibri" pitchFamily="34" charset="0"/>
                <a:ea typeface="Calibri" pitchFamily="34" charset="-122"/>
                <a:cs typeface="Calibri" pitchFamily="34" charset="-120"/>
              </a:rPr>
              <a:t>MAKE IT </a:t>
            </a:r>
            <a:pPr indent="0" marL="0">
              <a:buNone/>
            </a:pPr>
            <a:r>
              <a:rPr lang="en-US" sz="5000" b="1" dirty="0">
                <a:solidFill>
                  <a:srgbClr val="A8123A"/>
                </a:solidFill>
                <a:latin typeface="Calibri" pitchFamily="34" charset="0"/>
                <a:ea typeface="Calibri" pitchFamily="34" charset="-122"/>
                <a:cs typeface="Calibri" pitchFamily="34" charset="-120"/>
              </a:rPr>
              <a:t>AUTOMATIC</a:t>
            </a:r>
            <a:endParaRPr lang="en-US" sz="5000" dirty="0"/>
          </a:p>
        </p:txBody>
      </p:sp>
      <p:sp>
        <p:nvSpPr>
          <p:cNvPr id="6" name="Text 4"/>
          <p:cNvSpPr txBox="1"/>
          <p:nvPr/>
        </p:nvSpPr>
        <p:spPr>
          <a:xfrm>
            <a:off x="640080" y="3794760"/>
            <a:ext cx="8869680" cy="1371600"/>
          </a:xfrm>
          <a:prstGeom prst="rect">
            <a:avLst/>
          </a:prstGeom>
          <a:noFill/>
          <a:ln/>
        </p:spPr>
        <p:txBody>
          <a:bodyPr wrap="square" lIns="0" tIns="0" rIns="0" bIns="0" rtlCol="0" anchor="ctr"/>
          <a:lstStyle/>
          <a:p>
            <a:pPr indent="0" marL="0">
              <a:lnSpc>
                <a:spcPct val="125000"/>
              </a:lnSpc>
              <a:buNone/>
            </a:pPr>
            <a:r>
              <a:rPr lang="en-US" sz="2100" dirty="0">
                <a:solidFill>
                  <a:srgbClr val="2D2D2D"/>
                </a:solidFill>
                <a:latin typeface="Calibri" pitchFamily="34" charset="0"/>
                <a:ea typeface="Calibri" pitchFamily="34" charset="-122"/>
                <a:cs typeface="Calibri" pitchFamily="34" charset="-120"/>
              </a:rPr>
              <a:t>Automation doesn’t get tired, skip a step, or repeat a mistake. It runs the same way, every single time.</a:t>
            </a:r>
            <a:endParaRPr lang="en-US" sz="2100" dirty="0"/>
          </a:p>
        </p:txBody>
      </p:sp>
      <p:sp>
        <p:nvSpPr>
          <p:cNvPr id="7" name="Shape 5"/>
          <p:cNvSpPr/>
          <p:nvPr/>
        </p:nvSpPr>
        <p:spPr>
          <a:xfrm>
            <a:off x="5478628" y="6419088"/>
            <a:ext cx="137160" cy="137160"/>
          </a:xfrm>
          <a:prstGeom prst="ellipse">
            <a:avLst/>
          </a:prstGeom>
          <a:solidFill>
            <a:srgbClr val="C9C9C9"/>
          </a:solidFill>
          <a:ln w="12700">
            <a:solidFill>
              <a:srgbClr val="C9C9C9"/>
            </a:solidFill>
            <a:prstDash val="solid"/>
          </a:ln>
        </p:spPr>
      </p:sp>
      <p:sp>
        <p:nvSpPr>
          <p:cNvPr id="8" name="Shape 6"/>
          <p:cNvSpPr/>
          <p:nvPr/>
        </p:nvSpPr>
        <p:spPr>
          <a:xfrm>
            <a:off x="5752948" y="6419088"/>
            <a:ext cx="137160" cy="137160"/>
          </a:xfrm>
          <a:prstGeom prst="ellipse">
            <a:avLst/>
          </a:prstGeom>
          <a:solidFill>
            <a:srgbClr val="A8123A"/>
          </a:solidFill>
          <a:ln w="12700">
            <a:solidFill>
              <a:srgbClr val="A8123A"/>
            </a:solidFill>
            <a:prstDash val="solid"/>
          </a:ln>
        </p:spPr>
      </p:sp>
      <p:sp>
        <p:nvSpPr>
          <p:cNvPr id="9" name="Shape 7"/>
          <p:cNvSpPr/>
          <p:nvPr/>
        </p:nvSpPr>
        <p:spPr>
          <a:xfrm>
            <a:off x="6027268" y="6419088"/>
            <a:ext cx="137160" cy="137160"/>
          </a:xfrm>
          <a:prstGeom prst="ellipse">
            <a:avLst/>
          </a:prstGeom>
          <a:solidFill>
            <a:srgbClr val="C9C9C9"/>
          </a:solidFill>
          <a:ln w="12700">
            <a:solidFill>
              <a:srgbClr val="C9C9C9"/>
            </a:solidFill>
            <a:prstDash val="solid"/>
          </a:ln>
        </p:spPr>
      </p:sp>
      <p:sp>
        <p:nvSpPr>
          <p:cNvPr id="10" name="Shape 8"/>
          <p:cNvSpPr/>
          <p:nvPr/>
        </p:nvSpPr>
        <p:spPr>
          <a:xfrm>
            <a:off x="6301588" y="6419088"/>
            <a:ext cx="137160" cy="137160"/>
          </a:xfrm>
          <a:prstGeom prst="ellipse">
            <a:avLst/>
          </a:prstGeom>
          <a:solidFill>
            <a:srgbClr val="C9C9C9"/>
          </a:solidFill>
          <a:ln w="12700">
            <a:solidFill>
              <a:srgbClr val="C9C9C9"/>
            </a:solidFill>
            <a:prstDash val="solid"/>
          </a:ln>
        </p:spPr>
      </p:sp>
      <p:sp>
        <p:nvSpPr>
          <p:cNvPr id="11" name="Shape 9"/>
          <p:cNvSpPr/>
          <p:nvPr/>
        </p:nvSpPr>
        <p:spPr>
          <a:xfrm>
            <a:off x="6575908" y="6419088"/>
            <a:ext cx="137160" cy="137160"/>
          </a:xfrm>
          <a:prstGeom prst="ellipse">
            <a:avLst/>
          </a:prstGeom>
          <a:solidFill>
            <a:srgbClr val="C9C9C9"/>
          </a:solidFill>
          <a:ln w="12700">
            <a:solidFill>
              <a:srgbClr val="C9C9C9"/>
            </a:solidFill>
            <a:prstDash val="solid"/>
          </a:ln>
        </p:spPr>
      </p:sp>
      <p:sp>
        <p:nvSpPr>
          <p:cNvPr id="12" name="Text 10"/>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03 / 05  —  THE PLAYBOOK</a:t>
            </a:r>
            <a:endParaRPr lang="en-US" sz="1200" dirty="0"/>
          </a:p>
        </p:txBody>
      </p:sp>
      <p:sp>
        <p:nvSpPr>
          <p:cNvPr id="3" name="Shape 1"/>
          <p:cNvSpPr/>
          <p:nvPr/>
        </p:nvSpPr>
        <p:spPr>
          <a:xfrm>
            <a:off x="640080" y="1234440"/>
            <a:ext cx="1143000" cy="1143000"/>
          </a:xfrm>
          <a:prstGeom prst="ellipse">
            <a:avLst/>
          </a:prstGeom>
          <a:solidFill>
            <a:srgbClr val="A8123A"/>
          </a:solidFill>
          <a:ln w="12700">
            <a:solidFill>
              <a:srgbClr val="A8123A"/>
            </a:solidFill>
            <a:prstDash val="solid"/>
          </a:ln>
        </p:spPr>
      </p:sp>
      <p:sp>
        <p:nvSpPr>
          <p:cNvPr id="4" name="Text 2"/>
          <p:cNvSpPr txBox="1"/>
          <p:nvPr/>
        </p:nvSpPr>
        <p:spPr>
          <a:xfrm>
            <a:off x="640080" y="1234440"/>
            <a:ext cx="1143000" cy="11430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3</a:t>
            </a:r>
            <a:endParaRPr lang="en-US" sz="3800" dirty="0"/>
          </a:p>
        </p:txBody>
      </p:sp>
      <p:sp>
        <p:nvSpPr>
          <p:cNvPr id="5" name="Text 3"/>
          <p:cNvSpPr txBox="1"/>
          <p:nvPr/>
        </p:nvSpPr>
        <p:spPr>
          <a:xfrm>
            <a:off x="640080" y="2697480"/>
            <a:ext cx="10908792" cy="960120"/>
          </a:xfrm>
          <a:prstGeom prst="rect">
            <a:avLst/>
          </a:prstGeom>
          <a:noFill/>
          <a:ln/>
        </p:spPr>
        <p:txBody>
          <a:bodyPr wrap="square" lIns="0" tIns="0" rIns="0" bIns="0" rtlCol="0" anchor="ctr"/>
          <a:lstStyle/>
          <a:p>
            <a:pPr indent="0" marL="0">
              <a:buNone/>
            </a:pPr>
            <a:r>
              <a:rPr lang="en-US" sz="5000" b="1" dirty="0">
                <a:solidFill>
                  <a:srgbClr val="1A1A1A"/>
                </a:solidFill>
                <a:latin typeface="Calibri" pitchFamily="34" charset="0"/>
                <a:ea typeface="Calibri" pitchFamily="34" charset="-122"/>
                <a:cs typeface="Calibri" pitchFamily="34" charset="-120"/>
              </a:rPr>
              <a:t>MAKE IT </a:t>
            </a:r>
            <a:pPr indent="0" marL="0">
              <a:buNone/>
            </a:pPr>
            <a:r>
              <a:rPr lang="en-US" sz="5000" b="1" dirty="0">
                <a:solidFill>
                  <a:srgbClr val="A8123A"/>
                </a:solidFill>
                <a:latin typeface="Calibri" pitchFamily="34" charset="0"/>
                <a:ea typeface="Calibri" pitchFamily="34" charset="-122"/>
                <a:cs typeface="Calibri" pitchFamily="34" charset="-120"/>
              </a:rPr>
              <a:t>FANCY</a:t>
            </a:r>
            <a:endParaRPr lang="en-US" sz="5000" dirty="0"/>
          </a:p>
        </p:txBody>
      </p:sp>
      <p:sp>
        <p:nvSpPr>
          <p:cNvPr id="6" name="Text 4"/>
          <p:cNvSpPr txBox="1"/>
          <p:nvPr/>
        </p:nvSpPr>
        <p:spPr>
          <a:xfrm>
            <a:off x="640080" y="3794760"/>
            <a:ext cx="8869680" cy="1371600"/>
          </a:xfrm>
          <a:prstGeom prst="rect">
            <a:avLst/>
          </a:prstGeom>
          <a:noFill/>
          <a:ln/>
        </p:spPr>
        <p:txBody>
          <a:bodyPr wrap="square" lIns="0" tIns="0" rIns="0" bIns="0" rtlCol="0" anchor="ctr"/>
          <a:lstStyle/>
          <a:p>
            <a:pPr indent="0" marL="0">
              <a:lnSpc>
                <a:spcPct val="125000"/>
              </a:lnSpc>
              <a:buNone/>
            </a:pPr>
            <a:r>
              <a:rPr lang="en-US" sz="2100" dirty="0">
                <a:solidFill>
                  <a:srgbClr val="2D2D2D"/>
                </a:solidFill>
                <a:latin typeface="Calibri" pitchFamily="34" charset="0"/>
                <a:ea typeface="Calibri" pitchFamily="34" charset="-122"/>
                <a:cs typeface="Calibri" pitchFamily="34" charset="-120"/>
              </a:rPr>
              <a:t>A tool has to earn its use, not just perform its function. We didn’t just make it work — we made it something people want to open.</a:t>
            </a:r>
            <a:endParaRPr lang="en-US" sz="2100" dirty="0"/>
          </a:p>
        </p:txBody>
      </p:sp>
      <p:sp>
        <p:nvSpPr>
          <p:cNvPr id="7" name="Shape 5"/>
          <p:cNvSpPr/>
          <p:nvPr/>
        </p:nvSpPr>
        <p:spPr>
          <a:xfrm>
            <a:off x="5478628" y="6419088"/>
            <a:ext cx="137160" cy="137160"/>
          </a:xfrm>
          <a:prstGeom prst="ellipse">
            <a:avLst/>
          </a:prstGeom>
          <a:solidFill>
            <a:srgbClr val="C9C9C9"/>
          </a:solidFill>
          <a:ln w="12700">
            <a:solidFill>
              <a:srgbClr val="C9C9C9"/>
            </a:solidFill>
            <a:prstDash val="solid"/>
          </a:ln>
        </p:spPr>
      </p:sp>
      <p:sp>
        <p:nvSpPr>
          <p:cNvPr id="8" name="Shape 6"/>
          <p:cNvSpPr/>
          <p:nvPr/>
        </p:nvSpPr>
        <p:spPr>
          <a:xfrm>
            <a:off x="5752948" y="6419088"/>
            <a:ext cx="137160" cy="137160"/>
          </a:xfrm>
          <a:prstGeom prst="ellipse">
            <a:avLst/>
          </a:prstGeom>
          <a:solidFill>
            <a:srgbClr val="C9C9C9"/>
          </a:solidFill>
          <a:ln w="12700">
            <a:solidFill>
              <a:srgbClr val="C9C9C9"/>
            </a:solidFill>
            <a:prstDash val="solid"/>
          </a:ln>
        </p:spPr>
      </p:sp>
      <p:sp>
        <p:nvSpPr>
          <p:cNvPr id="9" name="Shape 7"/>
          <p:cNvSpPr/>
          <p:nvPr/>
        </p:nvSpPr>
        <p:spPr>
          <a:xfrm>
            <a:off x="6027268" y="6419088"/>
            <a:ext cx="137160" cy="137160"/>
          </a:xfrm>
          <a:prstGeom prst="ellipse">
            <a:avLst/>
          </a:prstGeom>
          <a:solidFill>
            <a:srgbClr val="A8123A"/>
          </a:solidFill>
          <a:ln w="12700">
            <a:solidFill>
              <a:srgbClr val="A8123A"/>
            </a:solidFill>
            <a:prstDash val="solid"/>
          </a:ln>
        </p:spPr>
      </p:sp>
      <p:sp>
        <p:nvSpPr>
          <p:cNvPr id="10" name="Shape 8"/>
          <p:cNvSpPr/>
          <p:nvPr/>
        </p:nvSpPr>
        <p:spPr>
          <a:xfrm>
            <a:off x="6301588" y="6419088"/>
            <a:ext cx="137160" cy="137160"/>
          </a:xfrm>
          <a:prstGeom prst="ellipse">
            <a:avLst/>
          </a:prstGeom>
          <a:solidFill>
            <a:srgbClr val="C9C9C9"/>
          </a:solidFill>
          <a:ln w="12700">
            <a:solidFill>
              <a:srgbClr val="C9C9C9"/>
            </a:solidFill>
            <a:prstDash val="solid"/>
          </a:ln>
        </p:spPr>
      </p:sp>
      <p:sp>
        <p:nvSpPr>
          <p:cNvPr id="11" name="Shape 9"/>
          <p:cNvSpPr/>
          <p:nvPr/>
        </p:nvSpPr>
        <p:spPr>
          <a:xfrm>
            <a:off x="6575908" y="6419088"/>
            <a:ext cx="137160" cy="137160"/>
          </a:xfrm>
          <a:prstGeom prst="ellipse">
            <a:avLst/>
          </a:prstGeom>
          <a:solidFill>
            <a:srgbClr val="C9C9C9"/>
          </a:solidFill>
          <a:ln w="12700">
            <a:solidFill>
              <a:srgbClr val="C9C9C9"/>
            </a:solidFill>
            <a:prstDash val="solid"/>
          </a:ln>
        </p:spPr>
      </p:sp>
      <p:sp>
        <p:nvSpPr>
          <p:cNvPr id="12" name="Text 10"/>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04 / 05  —  THE PLAYBOOK</a:t>
            </a:r>
            <a:endParaRPr lang="en-US" sz="1200" dirty="0"/>
          </a:p>
        </p:txBody>
      </p:sp>
      <p:sp>
        <p:nvSpPr>
          <p:cNvPr id="3" name="Shape 1"/>
          <p:cNvSpPr/>
          <p:nvPr/>
        </p:nvSpPr>
        <p:spPr>
          <a:xfrm>
            <a:off x="640080" y="1234440"/>
            <a:ext cx="1143000" cy="1143000"/>
          </a:xfrm>
          <a:prstGeom prst="ellipse">
            <a:avLst/>
          </a:prstGeom>
          <a:solidFill>
            <a:srgbClr val="A8123A"/>
          </a:solidFill>
          <a:ln w="12700">
            <a:solidFill>
              <a:srgbClr val="A8123A"/>
            </a:solidFill>
            <a:prstDash val="solid"/>
          </a:ln>
        </p:spPr>
      </p:sp>
      <p:sp>
        <p:nvSpPr>
          <p:cNvPr id="4" name="Text 2"/>
          <p:cNvSpPr txBox="1"/>
          <p:nvPr/>
        </p:nvSpPr>
        <p:spPr>
          <a:xfrm>
            <a:off x="640080" y="1234440"/>
            <a:ext cx="1143000" cy="11430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4</a:t>
            </a:r>
            <a:endParaRPr lang="en-US" sz="3800" dirty="0"/>
          </a:p>
        </p:txBody>
      </p:sp>
      <p:sp>
        <p:nvSpPr>
          <p:cNvPr id="5" name="Text 3"/>
          <p:cNvSpPr txBox="1"/>
          <p:nvPr/>
        </p:nvSpPr>
        <p:spPr>
          <a:xfrm>
            <a:off x="640080" y="2697480"/>
            <a:ext cx="10908792" cy="960120"/>
          </a:xfrm>
          <a:prstGeom prst="rect">
            <a:avLst/>
          </a:prstGeom>
          <a:noFill/>
          <a:ln/>
        </p:spPr>
        <p:txBody>
          <a:bodyPr wrap="square" lIns="0" tIns="0" rIns="0" bIns="0" rtlCol="0" anchor="ctr"/>
          <a:lstStyle/>
          <a:p>
            <a:pPr indent="0" marL="0">
              <a:buNone/>
            </a:pPr>
            <a:r>
              <a:rPr lang="en-US" sz="5000" b="1" dirty="0">
                <a:solidFill>
                  <a:srgbClr val="1A1A1A"/>
                </a:solidFill>
                <a:latin typeface="Calibri" pitchFamily="34" charset="0"/>
                <a:ea typeface="Calibri" pitchFamily="34" charset="-122"/>
                <a:cs typeface="Calibri" pitchFamily="34" charset="-120"/>
              </a:rPr>
              <a:t>MAKE IT </a:t>
            </a:r>
            <a:pPr indent="0" marL="0">
              <a:buNone/>
            </a:pPr>
            <a:r>
              <a:rPr lang="en-US" sz="5000" b="1" dirty="0">
                <a:solidFill>
                  <a:srgbClr val="A8123A"/>
                </a:solidFill>
                <a:latin typeface="Calibri" pitchFamily="34" charset="0"/>
                <a:ea typeface="Calibri" pitchFamily="34" charset="-122"/>
                <a:cs typeface="Calibri" pitchFamily="34" charset="-120"/>
              </a:rPr>
              <a:t>THEIR OWN</a:t>
            </a:r>
            <a:endParaRPr lang="en-US" sz="5000" dirty="0"/>
          </a:p>
        </p:txBody>
      </p:sp>
      <p:sp>
        <p:nvSpPr>
          <p:cNvPr id="6" name="Text 4"/>
          <p:cNvSpPr txBox="1"/>
          <p:nvPr/>
        </p:nvSpPr>
        <p:spPr>
          <a:xfrm>
            <a:off x="640080" y="3794760"/>
            <a:ext cx="8869680" cy="1371600"/>
          </a:xfrm>
          <a:prstGeom prst="rect">
            <a:avLst/>
          </a:prstGeom>
          <a:noFill/>
          <a:ln/>
        </p:spPr>
        <p:txBody>
          <a:bodyPr wrap="square" lIns="0" tIns="0" rIns="0" bIns="0" rtlCol="0" anchor="ctr"/>
          <a:lstStyle/>
          <a:p>
            <a:pPr indent="0" marL="0">
              <a:lnSpc>
                <a:spcPct val="125000"/>
              </a:lnSpc>
              <a:buNone/>
            </a:pPr>
            <a:r>
              <a:rPr lang="en-US" sz="2100" dirty="0">
                <a:solidFill>
                  <a:srgbClr val="2D2D2D"/>
                </a:solidFill>
                <a:latin typeface="Calibri" pitchFamily="34" charset="0"/>
                <a:ea typeface="Calibri" pitchFamily="34" charset="-122"/>
                <a:cs typeface="Calibri" pitchFamily="34" charset="-120"/>
              </a:rPr>
              <a:t>We asked the people who’d use it every day what they wanted — down to the smallest detail. Especially the smallest details.</a:t>
            </a:r>
            <a:endParaRPr lang="en-US" sz="2100" dirty="0"/>
          </a:p>
        </p:txBody>
      </p:sp>
      <p:sp>
        <p:nvSpPr>
          <p:cNvPr id="7" name="Shape 5"/>
          <p:cNvSpPr/>
          <p:nvPr/>
        </p:nvSpPr>
        <p:spPr>
          <a:xfrm>
            <a:off x="5478628" y="6419088"/>
            <a:ext cx="137160" cy="137160"/>
          </a:xfrm>
          <a:prstGeom prst="ellipse">
            <a:avLst/>
          </a:prstGeom>
          <a:solidFill>
            <a:srgbClr val="C9C9C9"/>
          </a:solidFill>
          <a:ln w="12700">
            <a:solidFill>
              <a:srgbClr val="C9C9C9"/>
            </a:solidFill>
            <a:prstDash val="solid"/>
          </a:ln>
        </p:spPr>
      </p:sp>
      <p:sp>
        <p:nvSpPr>
          <p:cNvPr id="8" name="Shape 6"/>
          <p:cNvSpPr/>
          <p:nvPr/>
        </p:nvSpPr>
        <p:spPr>
          <a:xfrm>
            <a:off x="5752948" y="6419088"/>
            <a:ext cx="137160" cy="137160"/>
          </a:xfrm>
          <a:prstGeom prst="ellipse">
            <a:avLst/>
          </a:prstGeom>
          <a:solidFill>
            <a:srgbClr val="C9C9C9"/>
          </a:solidFill>
          <a:ln w="12700">
            <a:solidFill>
              <a:srgbClr val="C9C9C9"/>
            </a:solidFill>
            <a:prstDash val="solid"/>
          </a:ln>
        </p:spPr>
      </p:sp>
      <p:sp>
        <p:nvSpPr>
          <p:cNvPr id="9" name="Shape 7"/>
          <p:cNvSpPr/>
          <p:nvPr/>
        </p:nvSpPr>
        <p:spPr>
          <a:xfrm>
            <a:off x="6027268" y="6419088"/>
            <a:ext cx="137160" cy="137160"/>
          </a:xfrm>
          <a:prstGeom prst="ellipse">
            <a:avLst/>
          </a:prstGeom>
          <a:solidFill>
            <a:srgbClr val="C9C9C9"/>
          </a:solidFill>
          <a:ln w="12700">
            <a:solidFill>
              <a:srgbClr val="C9C9C9"/>
            </a:solidFill>
            <a:prstDash val="solid"/>
          </a:ln>
        </p:spPr>
      </p:sp>
      <p:sp>
        <p:nvSpPr>
          <p:cNvPr id="10" name="Shape 8"/>
          <p:cNvSpPr/>
          <p:nvPr/>
        </p:nvSpPr>
        <p:spPr>
          <a:xfrm>
            <a:off x="6301588" y="6419088"/>
            <a:ext cx="137160" cy="137160"/>
          </a:xfrm>
          <a:prstGeom prst="ellipse">
            <a:avLst/>
          </a:prstGeom>
          <a:solidFill>
            <a:srgbClr val="A8123A"/>
          </a:solidFill>
          <a:ln w="12700">
            <a:solidFill>
              <a:srgbClr val="A8123A"/>
            </a:solidFill>
            <a:prstDash val="solid"/>
          </a:ln>
        </p:spPr>
      </p:sp>
      <p:sp>
        <p:nvSpPr>
          <p:cNvPr id="11" name="Shape 9"/>
          <p:cNvSpPr/>
          <p:nvPr/>
        </p:nvSpPr>
        <p:spPr>
          <a:xfrm>
            <a:off x="6575908" y="6419088"/>
            <a:ext cx="137160" cy="137160"/>
          </a:xfrm>
          <a:prstGeom prst="ellipse">
            <a:avLst/>
          </a:prstGeom>
          <a:solidFill>
            <a:srgbClr val="C9C9C9"/>
          </a:solidFill>
          <a:ln w="12700">
            <a:solidFill>
              <a:srgbClr val="C9C9C9"/>
            </a:solidFill>
            <a:prstDash val="solid"/>
          </a:ln>
        </p:spPr>
      </p:sp>
      <p:sp>
        <p:nvSpPr>
          <p:cNvPr id="12" name="Text 10"/>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05 / 05  —  THE PLAYBOOK</a:t>
            </a:r>
            <a:endParaRPr lang="en-US" sz="1200" dirty="0"/>
          </a:p>
        </p:txBody>
      </p:sp>
      <p:sp>
        <p:nvSpPr>
          <p:cNvPr id="3" name="Shape 1"/>
          <p:cNvSpPr/>
          <p:nvPr/>
        </p:nvSpPr>
        <p:spPr>
          <a:xfrm>
            <a:off x="640080" y="1234440"/>
            <a:ext cx="1143000" cy="1143000"/>
          </a:xfrm>
          <a:prstGeom prst="ellipse">
            <a:avLst/>
          </a:prstGeom>
          <a:solidFill>
            <a:srgbClr val="A8123A"/>
          </a:solidFill>
          <a:ln w="12700">
            <a:solidFill>
              <a:srgbClr val="A8123A"/>
            </a:solidFill>
            <a:prstDash val="solid"/>
          </a:ln>
        </p:spPr>
      </p:sp>
      <p:sp>
        <p:nvSpPr>
          <p:cNvPr id="4" name="Text 2"/>
          <p:cNvSpPr txBox="1"/>
          <p:nvPr/>
        </p:nvSpPr>
        <p:spPr>
          <a:xfrm>
            <a:off x="640080" y="1234440"/>
            <a:ext cx="1143000" cy="11430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5</a:t>
            </a:r>
            <a:endParaRPr lang="en-US" sz="3800" dirty="0"/>
          </a:p>
        </p:txBody>
      </p:sp>
      <p:sp>
        <p:nvSpPr>
          <p:cNvPr id="5" name="Text 3"/>
          <p:cNvSpPr txBox="1"/>
          <p:nvPr/>
        </p:nvSpPr>
        <p:spPr>
          <a:xfrm>
            <a:off x="640080" y="2697480"/>
            <a:ext cx="10908792" cy="960120"/>
          </a:xfrm>
          <a:prstGeom prst="rect">
            <a:avLst/>
          </a:prstGeom>
          <a:noFill/>
          <a:ln/>
        </p:spPr>
        <p:txBody>
          <a:bodyPr wrap="square" lIns="0" tIns="0" rIns="0" bIns="0" rtlCol="0" anchor="ctr"/>
          <a:lstStyle/>
          <a:p>
            <a:pPr indent="0" marL="0">
              <a:buNone/>
            </a:pPr>
            <a:r>
              <a:rPr lang="en-US" sz="5000" b="1" dirty="0">
                <a:solidFill>
                  <a:srgbClr val="1A1A1A"/>
                </a:solidFill>
                <a:latin typeface="Calibri" pitchFamily="34" charset="0"/>
                <a:ea typeface="Calibri" pitchFamily="34" charset="-122"/>
                <a:cs typeface="Calibri" pitchFamily="34" charset="-120"/>
              </a:rPr>
              <a:t>MAKE IT </a:t>
            </a:r>
            <a:pPr indent="0" marL="0">
              <a:buNone/>
            </a:pPr>
            <a:r>
              <a:rPr lang="en-US" sz="5000" b="1" dirty="0">
                <a:solidFill>
                  <a:srgbClr val="A8123A"/>
                </a:solidFill>
                <a:latin typeface="Calibri" pitchFamily="34" charset="0"/>
                <a:ea typeface="Calibri" pitchFamily="34" charset="-122"/>
                <a:cs typeface="Calibri" pitchFamily="34" charset="-120"/>
              </a:rPr>
              <a:t>HAPPEN</a:t>
            </a:r>
            <a:endParaRPr lang="en-US" sz="5000" dirty="0"/>
          </a:p>
        </p:txBody>
      </p:sp>
      <p:sp>
        <p:nvSpPr>
          <p:cNvPr id="6" name="Text 4"/>
          <p:cNvSpPr txBox="1"/>
          <p:nvPr/>
        </p:nvSpPr>
        <p:spPr>
          <a:xfrm>
            <a:off x="640080" y="3794760"/>
            <a:ext cx="8869680" cy="1371600"/>
          </a:xfrm>
          <a:prstGeom prst="rect">
            <a:avLst/>
          </a:prstGeom>
          <a:noFill/>
          <a:ln/>
        </p:spPr>
        <p:txBody>
          <a:bodyPr wrap="square" lIns="0" tIns="0" rIns="0" bIns="0" rtlCol="0" anchor="ctr"/>
          <a:lstStyle/>
          <a:p>
            <a:pPr indent="0" marL="0">
              <a:lnSpc>
                <a:spcPct val="125000"/>
              </a:lnSpc>
              <a:buNone/>
            </a:pPr>
            <a:r>
              <a:rPr lang="en-US" sz="2100" dirty="0">
                <a:solidFill>
                  <a:srgbClr val="2D2D2D"/>
                </a:solidFill>
                <a:latin typeface="Calibri" pitchFamily="34" charset="0"/>
                <a:ea typeface="Calibri" pitchFamily="34" charset="-122"/>
                <a:cs typeface="Calibri" pitchFamily="34" charset="-120"/>
              </a:rPr>
              <a:t>Fast. Automatic. Fancy. Theirs. Put the four together, and “not before October” becomes “done by August.”</a:t>
            </a:r>
            <a:endParaRPr lang="en-US" sz="2100" dirty="0"/>
          </a:p>
        </p:txBody>
      </p:sp>
      <p:sp>
        <p:nvSpPr>
          <p:cNvPr id="7" name="Text 5"/>
          <p:cNvSpPr txBox="1"/>
          <p:nvPr/>
        </p:nvSpPr>
        <p:spPr>
          <a:xfrm>
            <a:off x="640080" y="5257800"/>
            <a:ext cx="8869680" cy="365760"/>
          </a:xfrm>
          <a:prstGeom prst="rect">
            <a:avLst/>
          </a:prstGeom>
          <a:noFill/>
          <a:ln/>
        </p:spPr>
        <p:txBody>
          <a:bodyPr wrap="square" lIns="0" tIns="0" rIns="0" bIns="0"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Aug 31 deadline  →  Oct 31 honest estimate  →  delivered mid-August.</a:t>
            </a:r>
            <a:endParaRPr lang="en-US" sz="1200" dirty="0"/>
          </a:p>
        </p:txBody>
      </p:sp>
      <p:sp>
        <p:nvSpPr>
          <p:cNvPr id="8" name="Shape 6"/>
          <p:cNvSpPr/>
          <p:nvPr/>
        </p:nvSpPr>
        <p:spPr>
          <a:xfrm>
            <a:off x="5478628" y="6419088"/>
            <a:ext cx="137160" cy="137160"/>
          </a:xfrm>
          <a:prstGeom prst="ellipse">
            <a:avLst/>
          </a:prstGeom>
          <a:solidFill>
            <a:srgbClr val="C9C9C9"/>
          </a:solidFill>
          <a:ln w="12700">
            <a:solidFill>
              <a:srgbClr val="C9C9C9"/>
            </a:solidFill>
            <a:prstDash val="solid"/>
          </a:ln>
        </p:spPr>
      </p:sp>
      <p:sp>
        <p:nvSpPr>
          <p:cNvPr id="9" name="Shape 7"/>
          <p:cNvSpPr/>
          <p:nvPr/>
        </p:nvSpPr>
        <p:spPr>
          <a:xfrm>
            <a:off x="5752948" y="6419088"/>
            <a:ext cx="137160" cy="137160"/>
          </a:xfrm>
          <a:prstGeom prst="ellipse">
            <a:avLst/>
          </a:prstGeom>
          <a:solidFill>
            <a:srgbClr val="C9C9C9"/>
          </a:solidFill>
          <a:ln w="12700">
            <a:solidFill>
              <a:srgbClr val="C9C9C9"/>
            </a:solidFill>
            <a:prstDash val="solid"/>
          </a:ln>
        </p:spPr>
      </p:sp>
      <p:sp>
        <p:nvSpPr>
          <p:cNvPr id="10" name="Shape 8"/>
          <p:cNvSpPr/>
          <p:nvPr/>
        </p:nvSpPr>
        <p:spPr>
          <a:xfrm>
            <a:off x="6027268" y="6419088"/>
            <a:ext cx="137160" cy="137160"/>
          </a:xfrm>
          <a:prstGeom prst="ellipse">
            <a:avLst/>
          </a:prstGeom>
          <a:solidFill>
            <a:srgbClr val="C9C9C9"/>
          </a:solidFill>
          <a:ln w="12700">
            <a:solidFill>
              <a:srgbClr val="C9C9C9"/>
            </a:solidFill>
            <a:prstDash val="solid"/>
          </a:ln>
        </p:spPr>
      </p:sp>
      <p:sp>
        <p:nvSpPr>
          <p:cNvPr id="11" name="Shape 9"/>
          <p:cNvSpPr/>
          <p:nvPr/>
        </p:nvSpPr>
        <p:spPr>
          <a:xfrm>
            <a:off x="6301588" y="6419088"/>
            <a:ext cx="137160" cy="137160"/>
          </a:xfrm>
          <a:prstGeom prst="ellipse">
            <a:avLst/>
          </a:prstGeom>
          <a:solidFill>
            <a:srgbClr val="C9C9C9"/>
          </a:solidFill>
          <a:ln w="12700">
            <a:solidFill>
              <a:srgbClr val="C9C9C9"/>
            </a:solidFill>
            <a:prstDash val="solid"/>
          </a:ln>
        </p:spPr>
      </p:sp>
      <p:sp>
        <p:nvSpPr>
          <p:cNvPr id="12" name="Shape 10"/>
          <p:cNvSpPr/>
          <p:nvPr/>
        </p:nvSpPr>
        <p:spPr>
          <a:xfrm>
            <a:off x="6575908" y="6419088"/>
            <a:ext cx="137160" cy="137160"/>
          </a:xfrm>
          <a:prstGeom prst="ellipse">
            <a:avLst/>
          </a:prstGeom>
          <a:solidFill>
            <a:srgbClr val="A8123A"/>
          </a:solidFill>
          <a:ln w="12700">
            <a:solidFill>
              <a:srgbClr val="A8123A"/>
            </a:solidFill>
            <a:prstDash val="solid"/>
          </a:ln>
        </p:spPr>
      </p:sp>
      <p:sp>
        <p:nvSpPr>
          <p:cNvPr id="13" name="Text 11"/>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A5A5A"/>
                </a:solidFill>
                <a:latin typeface="Calibri" pitchFamily="34" charset="0"/>
                <a:ea typeface="Calibri" pitchFamily="34" charset="-122"/>
                <a:cs typeface="Calibri" pitchFamily="34" charset="-120"/>
              </a:rPr>
              <a:t>A CLOSING THOUGHT</a:t>
            </a:r>
            <a:endParaRPr lang="en-US" sz="1200" dirty="0"/>
          </a:p>
        </p:txBody>
      </p:sp>
      <p:sp>
        <p:nvSpPr>
          <p:cNvPr id="3" name="Text 1"/>
          <p:cNvSpPr txBox="1"/>
          <p:nvPr/>
        </p:nvSpPr>
        <p:spPr>
          <a:xfrm>
            <a:off x="640080" y="804672"/>
            <a:ext cx="10908792" cy="566928"/>
          </a:xfrm>
          <a:prstGeom prst="rect">
            <a:avLst/>
          </a:prstGeom>
          <a:noFill/>
          <a:ln/>
        </p:spPr>
        <p:txBody>
          <a:bodyPr wrap="square" lIns="0" tIns="0" rIns="0" bIns="0" rtlCol="0" anchor="ctr"/>
          <a:lstStyle/>
          <a:p>
            <a:pPr indent="0" marL="0">
              <a:buNone/>
            </a:pPr>
            <a:r>
              <a:rPr lang="en-US" sz="3200" b="1" dirty="0">
                <a:solidFill>
                  <a:srgbClr val="1A1A1A"/>
                </a:solidFill>
                <a:latin typeface="Calibri" pitchFamily="34" charset="0"/>
                <a:ea typeface="Calibri" pitchFamily="34" charset="-122"/>
                <a:cs typeface="Calibri" pitchFamily="34" charset="-120"/>
              </a:rPr>
              <a:t>Achilles and the Tortoise</a:t>
            </a:r>
            <a:endParaRPr lang="en-US" sz="3200" dirty="0"/>
          </a:p>
        </p:txBody>
      </p:sp>
      <p:sp>
        <p:nvSpPr>
          <p:cNvPr id="4" name="Text 2"/>
          <p:cNvSpPr txBox="1"/>
          <p:nvPr/>
        </p:nvSpPr>
        <p:spPr>
          <a:xfrm>
            <a:off x="640080" y="1335024"/>
            <a:ext cx="10908792" cy="320040"/>
          </a:xfrm>
          <a:prstGeom prst="rect">
            <a:avLst/>
          </a:prstGeom>
          <a:noFill/>
          <a:ln/>
        </p:spPr>
        <p:txBody>
          <a:bodyPr wrap="square" lIns="0" tIns="0" rIns="0" bIns="0" rtlCol="0" anchor="ctr"/>
          <a:lstStyle/>
          <a:p>
            <a:pPr indent="0" marL="0">
              <a:buNone/>
            </a:pPr>
            <a:r>
              <a:rPr lang="en-US" sz="1400" i="1" dirty="0">
                <a:solidFill>
                  <a:srgbClr val="5A5A5A"/>
                </a:solidFill>
                <a:latin typeface="Calibri" pitchFamily="34" charset="0"/>
                <a:ea typeface="Calibri" pitchFamily="34" charset="-122"/>
                <a:cs typeface="Calibri" pitchFamily="34" charset="-120"/>
              </a:rPr>
              <a:t>Zeno’s paradox — and the one we chose to break.</a:t>
            </a:r>
            <a:endParaRPr lang="en-US" sz="1400" dirty="0"/>
          </a:p>
        </p:txBody>
      </p:sp>
      <p:sp>
        <p:nvSpPr>
          <p:cNvPr id="5" name="Text 3"/>
          <p:cNvSpPr txBox="1"/>
          <p:nvPr/>
        </p:nvSpPr>
        <p:spPr>
          <a:xfrm>
            <a:off x="640080" y="1719072"/>
            <a:ext cx="7315200" cy="237744"/>
          </a:xfrm>
          <a:prstGeom prst="rect">
            <a:avLst/>
          </a:prstGeom>
          <a:noFill/>
          <a:ln/>
        </p:spPr>
        <p:txBody>
          <a:bodyPr wrap="square" lIns="0" tIns="0" rIns="0" bIns="0" rtlCol="0" anchor="ctr"/>
          <a:lstStyle/>
          <a:p>
            <a:pPr indent="0" marL="0">
              <a:buNone/>
            </a:pPr>
            <a:r>
              <a:rPr lang="en-US" sz="1200" b="1" dirty="0">
                <a:solidFill>
                  <a:srgbClr val="5A5A5A"/>
                </a:solidFill>
                <a:latin typeface="Calibri" pitchFamily="34" charset="0"/>
                <a:ea typeface="Calibri" pitchFamily="34" charset="-122"/>
                <a:cs typeface="Calibri" pitchFamily="34" charset="-120"/>
              </a:rPr>
              <a:t>The paradox everyone accepts</a:t>
            </a:r>
            <a:endParaRPr lang="en-US" sz="1200" dirty="0"/>
          </a:p>
        </p:txBody>
      </p:sp>
      <p:sp>
        <p:nvSpPr>
          <p:cNvPr id="6" name="Text 4"/>
          <p:cNvSpPr txBox="1"/>
          <p:nvPr/>
        </p:nvSpPr>
        <p:spPr>
          <a:xfrm>
            <a:off x="640080" y="1938528"/>
            <a:ext cx="10908792" cy="420624"/>
          </a:xfrm>
          <a:prstGeom prst="rect">
            <a:avLst/>
          </a:prstGeom>
          <a:noFill/>
          <a:ln/>
        </p:spPr>
        <p:txBody>
          <a:bodyPr wrap="square" lIns="0" tIns="0" rIns="0" bIns="0" rtlCol="0" anchor="ctr"/>
          <a:lstStyle/>
          <a:p>
            <a:pPr indent="0" marL="0">
              <a:lnSpc>
                <a:spcPct val="115000"/>
              </a:lnSpc>
              <a:buNone/>
            </a:pPr>
            <a:r>
              <a:rPr lang="en-US" sz="1100" i="1" dirty="0">
                <a:solidFill>
                  <a:srgbClr val="2D2D2D"/>
                </a:solidFill>
                <a:latin typeface="Calibri" pitchFamily="34" charset="0"/>
                <a:ea typeface="Calibri" pitchFamily="34" charset="-122"/>
                <a:cs typeface="Calibri" pitchFamily="34" charset="-120"/>
              </a:rPr>
              <a:t>Achilles gives the tortoise a head start. Every time he reaches where it was, it has already moved a little further — so, step by step, the gap never fully closes.</a:t>
            </a:r>
            <a:endParaRPr lang="en-US" sz="1100" dirty="0"/>
          </a:p>
        </p:txBody>
      </p:sp>
      <p:sp>
        <p:nvSpPr>
          <p:cNvPr id="7" name="Shape 5"/>
          <p:cNvSpPr/>
          <p:nvPr/>
        </p:nvSpPr>
        <p:spPr>
          <a:xfrm>
            <a:off x="822960" y="3017520"/>
            <a:ext cx="10543032" cy="16459"/>
          </a:xfrm>
          <a:prstGeom prst="rect">
            <a:avLst/>
          </a:prstGeom>
          <a:solidFill>
            <a:srgbClr val="C9C9C9"/>
          </a:solidFill>
          <a:ln w="12700">
            <a:solidFill>
              <a:srgbClr val="C9C9C9"/>
            </a:solidFill>
            <a:prstDash val="solid"/>
          </a:ln>
        </p:spPr>
      </p:sp>
      <p:sp>
        <p:nvSpPr>
          <p:cNvPr id="8" name="Shape 6"/>
          <p:cNvSpPr/>
          <p:nvPr/>
        </p:nvSpPr>
        <p:spPr>
          <a:xfrm>
            <a:off x="960669" y="2944368"/>
            <a:ext cx="146304" cy="146304"/>
          </a:xfrm>
          <a:prstGeom prst="ellipse">
            <a:avLst/>
          </a:prstGeom>
          <a:solidFill>
            <a:srgbClr val="2D2D2D"/>
          </a:solidFill>
          <a:ln w="19050">
            <a:solidFill>
              <a:srgbClr val="FFFFFF"/>
            </a:solidFill>
            <a:prstDash val="solid"/>
          </a:ln>
        </p:spPr>
      </p:sp>
      <p:sp>
        <p:nvSpPr>
          <p:cNvPr id="9" name="Text 7"/>
          <p:cNvSpPr txBox="1"/>
          <p:nvPr/>
        </p:nvSpPr>
        <p:spPr>
          <a:xfrm>
            <a:off x="485181" y="3145536"/>
            <a:ext cx="1097280" cy="237744"/>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Achilles</a:t>
            </a:r>
            <a:endParaRPr lang="en-US" sz="1000" dirty="0"/>
          </a:p>
        </p:txBody>
      </p:sp>
      <p:sp>
        <p:nvSpPr>
          <p:cNvPr id="10" name="Shape 8"/>
          <p:cNvSpPr/>
          <p:nvPr/>
        </p:nvSpPr>
        <p:spPr>
          <a:xfrm>
            <a:off x="3078419" y="2953512"/>
            <a:ext cx="128016" cy="128016"/>
          </a:xfrm>
          <a:prstGeom prst="ellipse">
            <a:avLst/>
          </a:prstGeom>
          <a:solidFill>
            <a:srgbClr val="5A5A5A"/>
          </a:solidFill>
          <a:ln w="12700">
            <a:solidFill>
              <a:srgbClr val="FFFFFF"/>
            </a:solidFill>
            <a:prstDash val="solid"/>
          </a:ln>
        </p:spPr>
      </p:sp>
      <p:sp>
        <p:nvSpPr>
          <p:cNvPr id="11" name="Shape 9"/>
          <p:cNvSpPr/>
          <p:nvPr/>
        </p:nvSpPr>
        <p:spPr>
          <a:xfrm>
            <a:off x="4986223" y="2963570"/>
            <a:ext cx="107899" cy="107899"/>
          </a:xfrm>
          <a:prstGeom prst="ellipse">
            <a:avLst/>
          </a:prstGeom>
          <a:solidFill>
            <a:srgbClr val="5A5A5A"/>
          </a:solidFill>
          <a:ln w="12700">
            <a:solidFill>
              <a:srgbClr val="FFFFFF"/>
            </a:solidFill>
            <a:prstDash val="solid"/>
          </a:ln>
        </p:spPr>
      </p:sp>
      <p:sp>
        <p:nvSpPr>
          <p:cNvPr id="12" name="Shape 10"/>
          <p:cNvSpPr/>
          <p:nvPr/>
        </p:nvSpPr>
        <p:spPr>
          <a:xfrm>
            <a:off x="6472306" y="2973629"/>
            <a:ext cx="87782" cy="87782"/>
          </a:xfrm>
          <a:prstGeom prst="ellipse">
            <a:avLst/>
          </a:prstGeom>
          <a:solidFill>
            <a:srgbClr val="5A5A5A"/>
          </a:solidFill>
          <a:ln w="12700">
            <a:solidFill>
              <a:srgbClr val="FFFFFF"/>
            </a:solidFill>
            <a:prstDash val="solid"/>
          </a:ln>
        </p:spPr>
      </p:sp>
      <p:sp>
        <p:nvSpPr>
          <p:cNvPr id="13" name="Shape 11"/>
          <p:cNvSpPr/>
          <p:nvPr/>
        </p:nvSpPr>
        <p:spPr>
          <a:xfrm>
            <a:off x="7536668" y="2983687"/>
            <a:ext cx="67666" cy="67666"/>
          </a:xfrm>
          <a:prstGeom prst="ellipse">
            <a:avLst/>
          </a:prstGeom>
          <a:solidFill>
            <a:srgbClr val="8A8A8A"/>
          </a:solidFill>
          <a:ln w="12700">
            <a:solidFill>
              <a:srgbClr val="FFFFFF"/>
            </a:solidFill>
            <a:prstDash val="solid"/>
          </a:ln>
        </p:spPr>
      </p:sp>
      <p:sp>
        <p:nvSpPr>
          <p:cNvPr id="14" name="Shape 12"/>
          <p:cNvSpPr/>
          <p:nvPr/>
        </p:nvSpPr>
        <p:spPr>
          <a:xfrm>
            <a:off x="8284738" y="2993746"/>
            <a:ext cx="47549" cy="47549"/>
          </a:xfrm>
          <a:prstGeom prst="ellipse">
            <a:avLst/>
          </a:prstGeom>
          <a:solidFill>
            <a:srgbClr val="8A8A8A"/>
          </a:solidFill>
          <a:ln w="12700">
            <a:solidFill>
              <a:srgbClr val="FFFFFF"/>
            </a:solidFill>
            <a:prstDash val="solid"/>
          </a:ln>
        </p:spPr>
      </p:sp>
      <p:sp>
        <p:nvSpPr>
          <p:cNvPr id="15" name="Text 13"/>
          <p:cNvSpPr txBox="1"/>
          <p:nvPr/>
        </p:nvSpPr>
        <p:spPr>
          <a:xfrm>
            <a:off x="2502347" y="3145536"/>
            <a:ext cx="1280160" cy="219456"/>
          </a:xfrm>
          <a:prstGeom prst="rect">
            <a:avLst/>
          </a:prstGeom>
          <a:noFill/>
          <a:ln/>
        </p:spPr>
        <p:txBody>
          <a:bodyPr wrap="square" lIns="0" tIns="0" rIns="0" bIns="0" rtlCol="0" anchor="ctr"/>
          <a:lstStyle/>
          <a:p>
            <a:pPr algn="ctr" indent="0" marL="0">
              <a:buNone/>
            </a:pPr>
            <a:r>
              <a:rPr lang="en-US" sz="900" dirty="0">
                <a:solidFill>
                  <a:srgbClr val="5A5A5A"/>
                </a:solidFill>
                <a:latin typeface="Calibri" pitchFamily="34" charset="0"/>
                <a:ea typeface="Calibri" pitchFamily="34" charset="-122"/>
                <a:cs typeface="Calibri" pitchFamily="34" charset="-120"/>
              </a:rPr>
              <a:t>Head start</a:t>
            </a:r>
            <a:endParaRPr lang="en-US" sz="900" dirty="0"/>
          </a:p>
        </p:txBody>
      </p:sp>
      <p:sp>
        <p:nvSpPr>
          <p:cNvPr id="16" name="Shape 14"/>
          <p:cNvSpPr/>
          <p:nvPr/>
        </p:nvSpPr>
        <p:spPr>
          <a:xfrm>
            <a:off x="1033821" y="2724912"/>
            <a:ext cx="1054303" cy="292608"/>
          </a:xfrm>
          <a:prstGeom prst="line">
            <a:avLst/>
          </a:prstGeom>
          <a:noFill/>
          <a:ln w="15875">
            <a:solidFill>
              <a:srgbClr val="5A5A5A"/>
            </a:solidFill>
            <a:prstDash val="solid"/>
          </a:ln>
        </p:spPr>
      </p:sp>
      <p:sp>
        <p:nvSpPr>
          <p:cNvPr id="17" name="Shape 15"/>
          <p:cNvSpPr/>
          <p:nvPr/>
        </p:nvSpPr>
        <p:spPr>
          <a:xfrm>
            <a:off x="2088124" y="2724912"/>
            <a:ext cx="1054303" cy="292608"/>
          </a:xfrm>
          <a:prstGeom prst="line">
            <a:avLst/>
          </a:prstGeom>
          <a:noFill/>
          <a:ln w="15875">
            <a:solidFill>
              <a:srgbClr val="5A5A5A"/>
            </a:solidFill>
            <a:prstDash val="solid"/>
            <a:tailEnd type="triangle"/>
          </a:ln>
        </p:spPr>
      </p:sp>
      <p:sp>
        <p:nvSpPr>
          <p:cNvPr id="18" name="Text 16"/>
          <p:cNvSpPr txBox="1"/>
          <p:nvPr/>
        </p:nvSpPr>
        <p:spPr>
          <a:xfrm>
            <a:off x="1859524" y="2523744"/>
            <a:ext cx="457200" cy="201168"/>
          </a:xfrm>
          <a:prstGeom prst="rect">
            <a:avLst/>
          </a:prstGeom>
          <a:noFill/>
          <a:ln/>
        </p:spPr>
        <p:txBody>
          <a:bodyPr wrap="square" lIns="0" tIns="0" rIns="0" bIns="0" rtlCol="0" anchor="ctr"/>
          <a:lstStyle/>
          <a:p>
            <a:pPr algn="ctr" indent="0" marL="0">
              <a:buNone/>
            </a:pPr>
            <a:r>
              <a:rPr lang="en-US" sz="900" b="1" dirty="0">
                <a:solidFill>
                  <a:srgbClr val="5A5A5A"/>
                </a:solidFill>
                <a:latin typeface="Calibri" pitchFamily="34" charset="0"/>
                <a:ea typeface="Calibri" pitchFamily="34" charset="-122"/>
                <a:cs typeface="Calibri" pitchFamily="34" charset="-120"/>
              </a:rPr>
              <a:t>1</a:t>
            </a:r>
            <a:endParaRPr lang="en-US" sz="900" dirty="0"/>
          </a:p>
        </p:txBody>
      </p:sp>
      <p:sp>
        <p:nvSpPr>
          <p:cNvPr id="19" name="Shape 17"/>
          <p:cNvSpPr/>
          <p:nvPr/>
        </p:nvSpPr>
        <p:spPr>
          <a:xfrm>
            <a:off x="3142427" y="2724912"/>
            <a:ext cx="948873" cy="292608"/>
          </a:xfrm>
          <a:prstGeom prst="line">
            <a:avLst/>
          </a:prstGeom>
          <a:noFill/>
          <a:ln w="15875">
            <a:solidFill>
              <a:srgbClr val="5A5A5A"/>
            </a:solidFill>
            <a:prstDash val="solid"/>
          </a:ln>
        </p:spPr>
      </p:sp>
      <p:sp>
        <p:nvSpPr>
          <p:cNvPr id="20" name="Shape 18"/>
          <p:cNvSpPr/>
          <p:nvPr/>
        </p:nvSpPr>
        <p:spPr>
          <a:xfrm>
            <a:off x="4091300" y="2724912"/>
            <a:ext cx="948873" cy="292608"/>
          </a:xfrm>
          <a:prstGeom prst="line">
            <a:avLst/>
          </a:prstGeom>
          <a:noFill/>
          <a:ln w="15875">
            <a:solidFill>
              <a:srgbClr val="5A5A5A"/>
            </a:solidFill>
            <a:prstDash val="solid"/>
            <a:tailEnd type="triangle"/>
          </a:ln>
        </p:spPr>
      </p:sp>
      <p:sp>
        <p:nvSpPr>
          <p:cNvPr id="21" name="Text 19"/>
          <p:cNvSpPr txBox="1"/>
          <p:nvPr/>
        </p:nvSpPr>
        <p:spPr>
          <a:xfrm>
            <a:off x="3862700" y="2523744"/>
            <a:ext cx="457200" cy="201168"/>
          </a:xfrm>
          <a:prstGeom prst="rect">
            <a:avLst/>
          </a:prstGeom>
          <a:noFill/>
          <a:ln/>
        </p:spPr>
        <p:txBody>
          <a:bodyPr wrap="square" lIns="0" tIns="0" rIns="0" bIns="0" rtlCol="0" anchor="ctr"/>
          <a:lstStyle/>
          <a:p>
            <a:pPr algn="ctr" indent="0" marL="0">
              <a:buNone/>
            </a:pPr>
            <a:r>
              <a:rPr lang="en-US" sz="900" b="1" dirty="0">
                <a:solidFill>
                  <a:srgbClr val="5A5A5A"/>
                </a:solidFill>
                <a:latin typeface="Calibri" pitchFamily="34" charset="0"/>
                <a:ea typeface="Calibri" pitchFamily="34" charset="-122"/>
                <a:cs typeface="Calibri" pitchFamily="34" charset="-120"/>
              </a:rPr>
              <a:t>2</a:t>
            </a:r>
            <a:endParaRPr lang="en-US" sz="900" dirty="0"/>
          </a:p>
        </p:txBody>
      </p:sp>
      <p:sp>
        <p:nvSpPr>
          <p:cNvPr id="22" name="Shape 20"/>
          <p:cNvSpPr/>
          <p:nvPr/>
        </p:nvSpPr>
        <p:spPr>
          <a:xfrm>
            <a:off x="5040173" y="2724912"/>
            <a:ext cx="738012" cy="292608"/>
          </a:xfrm>
          <a:prstGeom prst="line">
            <a:avLst/>
          </a:prstGeom>
          <a:noFill/>
          <a:ln w="15875">
            <a:solidFill>
              <a:srgbClr val="8A8A8A"/>
            </a:solidFill>
            <a:prstDash val="solid"/>
          </a:ln>
        </p:spPr>
      </p:sp>
      <p:sp>
        <p:nvSpPr>
          <p:cNvPr id="23" name="Shape 21"/>
          <p:cNvSpPr/>
          <p:nvPr/>
        </p:nvSpPr>
        <p:spPr>
          <a:xfrm>
            <a:off x="5778185" y="2724912"/>
            <a:ext cx="738012" cy="292608"/>
          </a:xfrm>
          <a:prstGeom prst="line">
            <a:avLst/>
          </a:prstGeom>
          <a:noFill/>
          <a:ln w="15875">
            <a:solidFill>
              <a:srgbClr val="8A8A8A"/>
            </a:solidFill>
            <a:prstDash val="solid"/>
            <a:tailEnd type="triangle"/>
          </a:ln>
        </p:spPr>
      </p:sp>
      <p:sp>
        <p:nvSpPr>
          <p:cNvPr id="24" name="Text 22"/>
          <p:cNvSpPr txBox="1"/>
          <p:nvPr/>
        </p:nvSpPr>
        <p:spPr>
          <a:xfrm>
            <a:off x="5549585" y="2523744"/>
            <a:ext cx="457200" cy="201168"/>
          </a:xfrm>
          <a:prstGeom prst="rect">
            <a:avLst/>
          </a:prstGeom>
          <a:noFill/>
          <a:ln/>
        </p:spPr>
        <p:txBody>
          <a:bodyPr wrap="square" lIns="0" tIns="0" rIns="0" bIns="0" rtlCol="0" anchor="ctr"/>
          <a:lstStyle/>
          <a:p>
            <a:pPr algn="ctr" indent="0" marL="0">
              <a:buNone/>
            </a:pPr>
            <a:r>
              <a:rPr lang="en-US" sz="900" b="1" dirty="0">
                <a:solidFill>
                  <a:srgbClr val="8A8A8A"/>
                </a:solidFill>
                <a:latin typeface="Calibri" pitchFamily="34" charset="0"/>
                <a:ea typeface="Calibri" pitchFamily="34" charset="-122"/>
                <a:cs typeface="Calibri" pitchFamily="34" charset="-120"/>
              </a:rPr>
              <a:t>3</a:t>
            </a:r>
            <a:endParaRPr lang="en-US" sz="900" dirty="0"/>
          </a:p>
        </p:txBody>
      </p:sp>
      <p:sp>
        <p:nvSpPr>
          <p:cNvPr id="25" name="Text 23"/>
          <p:cNvSpPr txBox="1"/>
          <p:nvPr/>
        </p:nvSpPr>
        <p:spPr>
          <a:xfrm>
            <a:off x="8983066" y="2761488"/>
            <a:ext cx="548640" cy="27432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11274552" y="2926080"/>
            <a:ext cx="182880" cy="182880"/>
          </a:xfrm>
          <a:prstGeom prst="ellipse">
            <a:avLst/>
          </a:prstGeom>
          <a:solidFill>
            <a:srgbClr val="5A5A5A"/>
          </a:solidFill>
          <a:ln w="19050">
            <a:solidFill>
              <a:srgbClr val="FFFFFF"/>
            </a:solidFill>
            <a:prstDash val="solid"/>
          </a:ln>
        </p:spPr>
      </p:sp>
      <p:sp>
        <p:nvSpPr>
          <p:cNvPr id="27" name="Text 25"/>
          <p:cNvSpPr txBox="1"/>
          <p:nvPr/>
        </p:nvSpPr>
        <p:spPr>
          <a:xfrm>
            <a:off x="10177272" y="3145536"/>
            <a:ext cx="1737360" cy="237744"/>
          </a:xfrm>
          <a:prstGeom prst="rect">
            <a:avLst/>
          </a:prstGeom>
          <a:noFill/>
          <a:ln/>
        </p:spPr>
        <p:txBody>
          <a:bodyPr wrap="square" lIns="0" tIns="0" rIns="0" bIns="0" rtlCol="0" anchor="ctr"/>
          <a:lstStyle/>
          <a:p>
            <a:pPr algn="ctr" indent="0" marL="0">
              <a:buNone/>
            </a:pPr>
            <a:r>
              <a:rPr lang="en-US" sz="1000" b="1" dirty="0">
                <a:solidFill>
                  <a:srgbClr val="2D2D2D"/>
                </a:solidFill>
                <a:latin typeface="Calibri" pitchFamily="34" charset="0"/>
                <a:ea typeface="Calibri" pitchFamily="34" charset="-122"/>
                <a:cs typeface="Calibri" pitchFamily="34" charset="-120"/>
              </a:rPr>
              <a:t>Tortoise — always just ahead</a:t>
            </a:r>
            <a:endParaRPr lang="en-US" sz="1000" dirty="0"/>
          </a:p>
        </p:txBody>
      </p:sp>
      <p:sp>
        <p:nvSpPr>
          <p:cNvPr id="28" name="Text 26"/>
          <p:cNvSpPr txBox="1"/>
          <p:nvPr/>
        </p:nvSpPr>
        <p:spPr>
          <a:xfrm>
            <a:off x="640080" y="3584448"/>
            <a:ext cx="5486400" cy="256032"/>
          </a:xfrm>
          <a:prstGeom prst="rect">
            <a:avLst/>
          </a:prstGeom>
          <a:noFill/>
          <a:ln/>
        </p:spPr>
        <p:txBody>
          <a:bodyPr wrap="square" lIns="0" tIns="0" rIns="0" bIns="0" rtlCol="0" anchor="ctr"/>
          <a:lstStyle/>
          <a:p>
            <a:pPr indent="0" marL="0">
              <a:buNone/>
            </a:pPr>
            <a:r>
              <a:rPr lang="en-US" sz="1200" b="1" dirty="0">
                <a:solidFill>
                  <a:srgbClr val="A8123A"/>
                </a:solidFill>
                <a:latin typeface="Calibri" pitchFamily="34" charset="0"/>
                <a:ea typeface="Calibri" pitchFamily="34" charset="-122"/>
                <a:cs typeface="Calibri" pitchFamily="34" charset="-120"/>
              </a:rPr>
              <a:t>What we did instead</a:t>
            </a:r>
            <a:endParaRPr lang="en-US" sz="1200" dirty="0"/>
          </a:p>
        </p:txBody>
      </p:sp>
      <p:sp>
        <p:nvSpPr>
          <p:cNvPr id="29" name="Shape 27"/>
          <p:cNvSpPr/>
          <p:nvPr/>
        </p:nvSpPr>
        <p:spPr>
          <a:xfrm>
            <a:off x="822960" y="4069080"/>
            <a:ext cx="10543032" cy="16459"/>
          </a:xfrm>
          <a:prstGeom prst="rect">
            <a:avLst/>
          </a:prstGeom>
          <a:solidFill>
            <a:srgbClr val="C9C9C9"/>
          </a:solidFill>
          <a:ln w="12700">
            <a:solidFill>
              <a:srgbClr val="C9C9C9"/>
            </a:solidFill>
            <a:prstDash val="solid"/>
          </a:ln>
        </p:spPr>
      </p:sp>
      <p:sp>
        <p:nvSpPr>
          <p:cNvPr id="30" name="Shape 28"/>
          <p:cNvSpPr/>
          <p:nvPr/>
        </p:nvSpPr>
        <p:spPr>
          <a:xfrm>
            <a:off x="1014984" y="3986784"/>
            <a:ext cx="164592" cy="164592"/>
          </a:xfrm>
          <a:prstGeom prst="ellipse">
            <a:avLst/>
          </a:prstGeom>
          <a:solidFill>
            <a:srgbClr val="A8123A"/>
          </a:solidFill>
          <a:ln w="12700">
            <a:solidFill>
              <a:srgbClr val="FFFFFF"/>
            </a:solidFill>
            <a:prstDash val="solid"/>
          </a:ln>
        </p:spPr>
      </p:sp>
      <p:sp>
        <p:nvSpPr>
          <p:cNvPr id="31" name="Text 29"/>
          <p:cNvSpPr txBox="1"/>
          <p:nvPr/>
        </p:nvSpPr>
        <p:spPr>
          <a:xfrm>
            <a:off x="548640" y="4206240"/>
            <a:ext cx="1097280" cy="237744"/>
          </a:xfrm>
          <a:prstGeom prst="rect">
            <a:avLst/>
          </a:prstGeom>
          <a:noFill/>
          <a:ln/>
        </p:spPr>
        <p:txBody>
          <a:bodyPr wrap="square" lIns="0" tIns="0" rIns="0" bIns="0" rtlCol="0" anchor="ctr"/>
          <a:lstStyle/>
          <a:p>
            <a:pPr algn="ctr" indent="0" marL="0">
              <a:buNone/>
            </a:pPr>
            <a:r>
              <a:rPr lang="en-US" sz="1050" dirty="0">
                <a:solidFill>
                  <a:srgbClr val="2D2D2D"/>
                </a:solidFill>
                <a:latin typeface="Calibri" pitchFamily="34" charset="0"/>
                <a:ea typeface="Calibri" pitchFamily="34" charset="-122"/>
                <a:cs typeface="Calibri" pitchFamily="34" charset="-120"/>
              </a:rPr>
              <a:t>Achilles</a:t>
            </a:r>
            <a:endParaRPr lang="en-US" sz="1050" dirty="0"/>
          </a:p>
        </p:txBody>
      </p:sp>
      <p:sp>
        <p:nvSpPr>
          <p:cNvPr id="32" name="Shape 30"/>
          <p:cNvSpPr/>
          <p:nvPr/>
        </p:nvSpPr>
        <p:spPr>
          <a:xfrm>
            <a:off x="6530188" y="3977640"/>
            <a:ext cx="182880" cy="182880"/>
          </a:xfrm>
          <a:prstGeom prst="ellipse">
            <a:avLst/>
          </a:prstGeom>
          <a:solidFill>
            <a:srgbClr val="5A5A5A"/>
          </a:solidFill>
          <a:ln w="12700">
            <a:solidFill>
              <a:srgbClr val="FFFFFF"/>
            </a:solidFill>
            <a:prstDash val="solid"/>
          </a:ln>
        </p:spPr>
      </p:sp>
      <p:sp>
        <p:nvSpPr>
          <p:cNvPr id="33" name="Text 31"/>
          <p:cNvSpPr txBox="1"/>
          <p:nvPr/>
        </p:nvSpPr>
        <p:spPr>
          <a:xfrm>
            <a:off x="6072988" y="4215384"/>
            <a:ext cx="1097280" cy="237744"/>
          </a:xfrm>
          <a:prstGeom prst="rect">
            <a:avLst/>
          </a:prstGeom>
          <a:noFill/>
          <a:ln/>
        </p:spPr>
        <p:txBody>
          <a:bodyPr wrap="square" lIns="0" tIns="0" rIns="0" bIns="0" rtlCol="0" anchor="ctr"/>
          <a:lstStyle/>
          <a:p>
            <a:pPr algn="ctr" indent="0" marL="0">
              <a:buNone/>
            </a:pPr>
            <a:r>
              <a:rPr lang="en-US" sz="1050" dirty="0">
                <a:solidFill>
                  <a:srgbClr val="5A5A5A"/>
                </a:solidFill>
                <a:latin typeface="Calibri" pitchFamily="34" charset="0"/>
                <a:ea typeface="Calibri" pitchFamily="34" charset="-122"/>
                <a:cs typeface="Calibri" pitchFamily="34" charset="-120"/>
              </a:rPr>
              <a:t>Tortoise</a:t>
            </a:r>
            <a:endParaRPr lang="en-US" sz="1050" dirty="0"/>
          </a:p>
        </p:txBody>
      </p:sp>
      <p:sp>
        <p:nvSpPr>
          <p:cNvPr id="34" name="Shape 32"/>
          <p:cNvSpPr/>
          <p:nvPr/>
        </p:nvSpPr>
        <p:spPr>
          <a:xfrm>
            <a:off x="1097280" y="4069080"/>
            <a:ext cx="9765792" cy="0"/>
          </a:xfrm>
          <a:prstGeom prst="line">
            <a:avLst/>
          </a:prstGeom>
          <a:noFill/>
          <a:ln w="31750">
            <a:solidFill>
              <a:srgbClr val="A8123A"/>
            </a:solidFill>
            <a:prstDash val="solid"/>
            <a:tailEnd type="triangle"/>
          </a:ln>
        </p:spPr>
      </p:sp>
      <p:sp>
        <p:nvSpPr>
          <p:cNvPr id="35" name="Shape 33"/>
          <p:cNvSpPr/>
          <p:nvPr/>
        </p:nvSpPr>
        <p:spPr>
          <a:xfrm>
            <a:off x="11164824" y="3867912"/>
            <a:ext cx="402336" cy="402336"/>
          </a:xfrm>
          <a:prstGeom prst="ellipse">
            <a:avLst/>
          </a:prstGeom>
          <a:solidFill>
            <a:srgbClr val="A8123A"/>
          </a:solidFill>
          <a:ln w="12700">
            <a:solidFill>
              <a:srgbClr val="A8123A"/>
            </a:solidFill>
            <a:prstDash val="solid"/>
          </a:ln>
        </p:spPr>
      </p:sp>
      <p:sp>
        <p:nvSpPr>
          <p:cNvPr id="36" name="Text 34"/>
          <p:cNvSpPr txBox="1"/>
          <p:nvPr/>
        </p:nvSpPr>
        <p:spPr>
          <a:xfrm>
            <a:off x="11164824" y="386791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7" name="Text 35"/>
          <p:cNvSpPr txBox="1"/>
          <p:nvPr/>
        </p:nvSpPr>
        <p:spPr>
          <a:xfrm>
            <a:off x="1097280" y="4892040"/>
            <a:ext cx="9994392" cy="1143000"/>
          </a:xfrm>
          <a:prstGeom prst="rect">
            <a:avLst/>
          </a:prstGeom>
          <a:noFill/>
          <a:ln/>
        </p:spPr>
        <p:txBody>
          <a:bodyPr wrap="square" lIns="0" tIns="0" rIns="0" bIns="0" rtlCol="0" anchor="ctr"/>
          <a:lstStyle/>
          <a:p>
            <a:pPr algn="ctr" indent="0" marL="0">
              <a:lnSpc>
                <a:spcPct val="128000"/>
              </a:lnSpc>
              <a:buNone/>
            </a:pPr>
            <a:r>
              <a:rPr lang="en-US" sz="1800" i="1" dirty="0">
                <a:solidFill>
                  <a:srgbClr val="2D2D2D"/>
                </a:solidFill>
                <a:latin typeface="Calibri" pitchFamily="34" charset="0"/>
                <a:ea typeface="Calibri" pitchFamily="34" charset="-122"/>
                <a:cs typeface="Calibri" pitchFamily="34" charset="-120"/>
              </a:rPr>
              <a:t>Whoever waits for automation to prove itself takes small, safe steps — certain they’re still ahead. </a:t>
            </a:r>
            <a:pPr algn="ctr" indent="0" marL="0">
              <a:lnSpc>
                <a:spcPct val="128000"/>
              </a:lnSpc>
              <a:buNone/>
            </a:pPr>
            <a:r>
              <a:rPr lang="en-US" sz="1800" b="1" i="1" dirty="0">
                <a:solidFill>
                  <a:srgbClr val="A8123A"/>
                </a:solidFill>
                <a:latin typeface="Calibri" pitchFamily="34" charset="0"/>
                <a:ea typeface="Calibri" pitchFamily="34" charset="-122"/>
                <a:cs typeface="Calibri" pitchFamily="34" charset="-120"/>
              </a:rPr>
              <a:t>We didn’t argue with the paradox. We just let Achilles run.</a:t>
            </a:r>
            <a:endParaRPr lang="en-US" sz="1800" dirty="0"/>
          </a:p>
        </p:txBody>
      </p:sp>
      <p:sp>
        <p:nvSpPr>
          <p:cNvPr id="38" name="Text 36"/>
          <p:cNvSpPr txBox="1"/>
          <p:nvPr/>
        </p:nvSpPr>
        <p:spPr>
          <a:xfrm>
            <a:off x="8686800" y="6492240"/>
            <a:ext cx="2953512"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EMEA leadership · August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2026-09-11T07:25:06Z</dcterms:created>
  <dcterms:modified xsi:type="dcterms:W3CDTF">2026-09-11T07:25:06Z</dcterms:modified>
</cp:coreProperties>
</file>